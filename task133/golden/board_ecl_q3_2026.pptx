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Stage 1 at 30 September</c:v>
                </c:pt>
              </c:strCache>
            </c:strRef>
          </c:tx>
          <c:spPr>
            <a:solidFill>
              <a:srgbClr val="2A78D6"/>
            </a:solidFill>
            <a:ln w="19050"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14,470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468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17,724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560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PL36, stage 1 at 30 June</c:v>
                </c:pt>
                <c:pt idx="1">
                  <c:v>PL36, stage 2 at 30 June</c:v>
                </c:pt>
                <c:pt idx="2">
                  <c:v>PL60, stage 1 at 30 June</c:v>
                </c:pt>
                <c:pt idx="3">
                  <c:v>PL60, stage 2 at 30 June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14470</c:v>
                </c:pt>
                <c:pt idx="1">
                  <c:v>468</c:v>
                </c:pt>
                <c:pt idx="2">
                  <c:v>17724</c:v>
                </c:pt>
                <c:pt idx="3">
                  <c:v>560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Stage 2</c:v>
                </c:pt>
              </c:strCache>
            </c:strRef>
          </c:tx>
          <c:spPr>
            <a:solidFill>
              <a:srgbClr val="EDA100"/>
            </a:solidFill>
            <a:ln w="19050"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B3C"/>
                        </a:solidFill>
                      </a:rPr>
                      <a:t>680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B3C"/>
                        </a:solidFill>
                      </a:rPr>
                      <a:t>658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B3C"/>
                        </a:solidFill>
                      </a:rPr>
                      <a:t>831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B3C"/>
                        </a:solidFill>
                      </a:rPr>
                      <a:t>942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PL36, stage 1 at 30 June</c:v>
                </c:pt>
                <c:pt idx="1">
                  <c:v>PL36, stage 2 at 30 June</c:v>
                </c:pt>
                <c:pt idx="2">
                  <c:v>PL60, stage 1 at 30 June</c:v>
                </c:pt>
                <c:pt idx="3">
                  <c:v>PL60, stage 2 at 30 June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680</c:v>
                </c:pt>
                <c:pt idx="1">
                  <c:v>658</c:v>
                </c:pt>
                <c:pt idx="2">
                  <c:v>831</c:v>
                </c:pt>
                <c:pt idx="3">
                  <c:v>942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Stage 3</c:v>
                </c:pt>
              </c:strCache>
            </c:strRef>
          </c:tx>
          <c:spPr>
            <a:solidFill>
              <a:srgbClr val="E34948"/>
            </a:solidFill>
            <a:ln w="19050">
              <a:solidFill>
                <a:srgbClr val="FFFFFF"/>
              </a:solidFill>
            </a:ln>
          </c:spPr>
          <c:dLbls>
            <c:dLbl>
              <c:idx val="0"/>
              <c:layout>
                <c:manualLayout>
                  <c:x val="0.0000"/>
                  <c:y val="0.0850"/>
                </c:manualLayout>
              </c:layout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B3C"/>
                        </a:solidFill>
                      </a:rPr>
                      <a:t>42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115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000"/>
                  <c:y val="0.0850"/>
                </c:manualLayout>
              </c:layout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B3C"/>
                        </a:solidFill>
                      </a:rPr>
                      <a:t>46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140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PL36, stage 1 at 30 June</c:v>
                </c:pt>
                <c:pt idx="1">
                  <c:v>PL36, stage 2 at 30 June</c:v>
                </c:pt>
                <c:pt idx="2">
                  <c:v>PL60, stage 1 at 30 June</c:v>
                </c:pt>
                <c:pt idx="3">
                  <c:v>PL60, stage 2 at 30 June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42</c:v>
                </c:pt>
                <c:pt idx="1">
                  <c:v>115</c:v>
                </c:pt>
                <c:pt idx="2">
                  <c:v>46</c:v>
                </c:pt>
                <c:pt idx="3">
                  <c:v>140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6250D6"/>
            </a:solidFill>
            <a:ln w="19050"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1,586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123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1,180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112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PL36, stage 1 at 30 June</c:v>
                </c:pt>
                <c:pt idx="1">
                  <c:v>PL36, stage 2 at 30 June</c:v>
                </c:pt>
                <c:pt idx="2">
                  <c:v>PL60, stage 1 at 30 June</c:v>
                </c:pt>
                <c:pt idx="3">
                  <c:v>PL60, stage 2 at 30 June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1586</c:v>
                </c:pt>
                <c:pt idx="1">
                  <c:v>123</c:v>
                </c:pt>
                <c:pt idx="2">
                  <c:v>1180</c:v>
                </c:pt>
                <c:pt idx="3">
                  <c:v>112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10980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2B3C"/>
                </a:solidFill>
              </a:rPr>
              <a:t>Book a collective ECL allowance of $13,160,000 at 30 September 2026</a:t>
            </a:r>
          </a:p>
          <a:p>
            <a:r>
              <a:rPr sz="1300">
                <a:solidFill>
                  <a:srgbClr val="5B6670"/>
                </a:solidFill>
              </a:rPr>
              <a:t>Stage 1 $10,563,000 and stage 2 $2,597,000; 343 loans in stage 3 are assessed separately under CRM-ECL-06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76000" y="1944000"/>
          <a:ext cx="6839999" cy="18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000"/>
                <a:gridCol w="1655999"/>
                <a:gridCol w="2088000"/>
              </a:tblGrid>
              <a:tr h="468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E2B3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</a:rPr>
                        <a:t>Loans</a:t>
                      </a:r>
                    </a:p>
                  </a:txBody>
                  <a:tcPr>
                    <a:solidFill>
                      <a:srgbClr val="1E2B3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</a:rPr>
                        <a:t>Allowance</a:t>
                      </a:r>
                    </a:p>
                  </a:txBody>
                  <a:tcPr>
                    <a:solidFill>
                      <a:srgbClr val="1E2B3C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B3C"/>
                          </a:solidFill>
                        </a:rPr>
                        <a:t>Stage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E2B3C"/>
                          </a:solidFill>
                        </a:rPr>
                        <a:t>37,288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E2B3C"/>
                          </a:solidFill>
                        </a:rPr>
                        <a:t>$10,563,000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B3C"/>
                          </a:solidFill>
                        </a:rPr>
                        <a:t>Stage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E2B3C"/>
                          </a:solidFill>
                        </a:rPr>
                        <a:t>3,266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E2B3C"/>
                          </a:solidFill>
                        </a:rPr>
                        <a:t>$2,597,000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E2B3C"/>
                          </a:solidFill>
                        </a:rPr>
                        <a:t>Collective allowance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E2B3C"/>
                          </a:solidFill>
                        </a:rPr>
                        <a:t>40,554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E2B3C"/>
                          </a:solidFill>
                        </a:rPr>
                        <a:t>$13,160,000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76000" y="4176000"/>
            <a:ext cx="109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B6670"/>
                </a:solidFill>
              </a:rPr>
              <a:t>Each performing loan's monthly default probability comes from the PLPD-2026.06 curve from its months on book, conditioned on the share of the development loans still open and not in default at that point; stage 2 carries the 2.4 scalar and the scenarios are weighted 55 / 30 / 15 per cent (multiplier 1.06). Amounts to the nearest thousand dollars.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6048000"/>
            <a:ext cx="109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670"/>
                </a:solidFill>
              </a:rPr>
              <a:t>Source: loan system extract at 30 September 2026; PLPD-2026.06 curve; scenarios approved 18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6372000"/>
            <a:ext cx="109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670"/>
                </a:solidFill>
              </a:rPr>
              <a:t>Bellbird Personal Finance  |  Board, 23 October 2026  |  Credit Risk Reporting  |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10980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2B3C"/>
                </a:solidFill>
              </a:rPr>
              <a:t>1,599 stage 1 loans moved to stage 2 or 3 this quarter and 1,028 stage 2 loans returned to stage 1</a:t>
            </a:r>
          </a:p>
          <a:p>
            <a:r>
              <a:rPr sz="1300">
                <a:solidFill>
                  <a:srgbClr val="5B6670"/>
                </a:solidFill>
              </a:rPr>
              <a:t>Loans in stage 1 or stage 2 at 30 June 2026, by where they stand at 30 September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76000" y="1584000"/>
          <a:ext cx="10980000" cy="442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76000" y="6048000"/>
            <a:ext cx="109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670"/>
                </a:solidFill>
              </a:rPr>
              <a:t>Source: loan system extracts at 30 June and 30 September 2026; June month-end scoring run (1 July); hardship register at 30 September. Stages under CRM-ECL-04 section 2; closed = repaid, settled or written 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6372000"/>
            <a:ext cx="109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670"/>
                </a:solidFill>
              </a:rPr>
              <a:t>Bellbird Personal Finance  |  Board, 23 October 2026  |  Credit Risk Reporting  | 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218</Words>
  <Application>Microsoft Office PowerPoint</Application>
  <PresentationFormat>Widescreen</PresentationFormat>
  <Paragraphs>20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Book a collective ECL allowance of $13,160,000 at 30 September 2026</vt:lpstr>
      <vt:lpstr>1,599 stage 1 loans moved to stage 2 or 3 this quarter and 1,028 stage 2 loans returned to stage 1</vt:lpstr>
    </vt:vector>
  </TitlesOfParts>
  <Manager/>
  <Company>Bellbird Personal Finance Ltd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ECL allowance, Q1 FY27</dc:title>
  <dc:subject/>
  <dc:creator>Joseph Mitchell</dc:creator>
  <cp:keywords/>
  <dc:description/>
  <cp:lastModifiedBy>Joseph Mitchell</cp:lastModifiedBy>
  <cp:revision>3</cp:revision>
  <dcterms:created xsi:type="dcterms:W3CDTF">2026-10-08T05:41:00Z</dcterms:created>
  <dcterms:modified xsi:type="dcterms:W3CDTF">2026-10-09T05:20:00Z</dcterms:modified>
</cp:coreProperties>
</file>