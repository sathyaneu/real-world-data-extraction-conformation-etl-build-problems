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211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Stage 1 at 30 September</c:v>
                </c:pt>
              </c:strCache>
            </c:strRef>
          </c:tx>
          <c:spPr>
            <a:solidFill>
              <a:srgbClr val="2A78D6"/>
            </a:solidFill>
            <a:ln w="19050">
              <a:solidFill>
                <a:srgbClr val="FFFFFF"/>
              </a:solidFill>
            </a:ln>
          </c:spPr>
          <c:dLbls>
            <c:dLbl>
              <c:idx val="0"/>
              <c:tx>
                <c:rich>
                  <a:bodyPr/>
                  <a:lstStyle/>
                  <a:p>
                    <a:r>
                      <a:rPr sz="1100" b="1">
                        <a:solidFill>
                          <a:srgbClr val="FFFFFF"/>
                        </a:solidFill>
                      </a:rPr>
                      <a:t>14,470</a:t>
                    </a:r>
                  </a:p>
                </c:rich>
              </c:tx>
              <c:showLegendKey val="0"/>
              <c:showVal val="1"/>
              <c:showCatName val="0"/>
              <c:showSerName val="0"/>
              <c:showPercent val="0"/>
              <c:showBubbleSize val="0"/>
            </c:dLbl>
            <c:dLbl>
              <c:idx val="1"/>
              <c:tx>
                <c:rich>
                  <a:bodyPr/>
                  <a:lstStyle/>
                  <a:p>
                    <a:r>
                      <a:rPr sz="1100" b="1">
                        <a:solidFill>
                          <a:srgbClr val="FFFFFF"/>
                        </a:solidFill>
                      </a:rPr>
                      <a:t>468</a:t>
                    </a:r>
                  </a:p>
                </c:rich>
              </c:tx>
              <c:showLegendKey val="0"/>
              <c:showVal val="1"/>
              <c:showCatName val="0"/>
              <c:showSerName val="0"/>
              <c:showPercent val="0"/>
              <c:showBubbleSize val="0"/>
            </c:dLbl>
            <c:dLbl>
              <c:idx val="2"/>
              <c:tx>
                <c:rich>
                  <a:bodyPr/>
                  <a:lstStyle/>
                  <a:p>
                    <a:r>
                      <a:rPr sz="1100" b="1">
                        <a:solidFill>
                          <a:srgbClr val="FFFFFF"/>
                        </a:solidFill>
                      </a:rPr>
                      <a:t>17,724</a:t>
                    </a:r>
                  </a:p>
                </c:rich>
              </c:tx>
              <c:showLegendKey val="0"/>
              <c:showVal val="1"/>
              <c:showCatName val="0"/>
              <c:showSerName val="0"/>
              <c:showPercent val="0"/>
              <c:showBubbleSize val="0"/>
            </c:dLbl>
            <c:dLbl>
              <c:idx val="3"/>
              <c:tx>
                <c:rich>
                  <a:bodyPr/>
                  <a:lstStyle/>
                  <a:p>
                    <a:r>
                      <a:rPr sz="1100" b="1">
                        <a:solidFill>
                          <a:srgbClr val="FFFFFF"/>
                        </a:solidFill>
                      </a:rPr>
                      <a:t>560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Sheet1!$B$2:$B$5</c:f>
              <c:numCache>
                <c:formatCode>General</c:formatCode>
                <c:ptCount val="4"/>
                <c:pt idx="0">
                  <c:v>14470</c:v>
                </c:pt>
                <c:pt idx="1">
                  <c:v>468</c:v>
                </c:pt>
                <c:pt idx="2">
                  <c:v>17724</c:v>
                </c:pt>
                <c:pt idx="3">
                  <c:v>560</c:v>
                </c:pt>
              </c:numCache>
            </c:numRef>
          </c:val>
        </c:ser>
        <c:ser>
          <c:idx val="1"/>
          <c:order val="1"/>
          <c:tx>
            <c:strRef>
              <c:f>Sheet1!$C$1</c:f>
              <c:strCache>
                <c:ptCount val="1"/>
                <c:pt idx="0">
                  <c:v>Stage 2</c:v>
                </c:pt>
              </c:strCache>
            </c:strRef>
          </c:tx>
          <c:spPr>
            <a:solidFill>
              <a:srgbClr val="EDA100"/>
            </a:solidFill>
            <a:ln w="19050">
              <a:solidFill>
                <a:srgbClr val="FFFFFF"/>
              </a:solidFill>
            </a:ln>
          </c:spPr>
          <c:dLbls>
            <c:dLbl>
              <c:idx val="0"/>
              <c:tx>
                <c:rich>
                  <a:bodyPr/>
                  <a:lstStyle/>
                  <a:p>
                    <a:r>
                      <a:rPr sz="1100" b="1">
                        <a:solidFill>
                          <a:srgbClr val="1E2B3C"/>
                        </a:solidFill>
                      </a:rPr>
                      <a:t>680</a:t>
                    </a:r>
                  </a:p>
                </c:rich>
              </c:tx>
              <c:showLegendKey val="0"/>
              <c:showVal val="1"/>
              <c:showCatName val="0"/>
              <c:showSerName val="0"/>
              <c:showPercent val="0"/>
              <c:showBubbleSize val="0"/>
            </c:dLbl>
            <c:dLbl>
              <c:idx val="1"/>
              <c:tx>
                <c:rich>
                  <a:bodyPr/>
                  <a:lstStyle/>
                  <a:p>
                    <a:r>
                      <a:rPr sz="1100" b="1">
                        <a:solidFill>
                          <a:srgbClr val="1E2B3C"/>
                        </a:solidFill>
                      </a:rPr>
                      <a:t>658</a:t>
                    </a:r>
                  </a:p>
                </c:rich>
              </c:tx>
              <c:showLegendKey val="0"/>
              <c:showVal val="1"/>
              <c:showCatName val="0"/>
              <c:showSerName val="0"/>
              <c:showPercent val="0"/>
              <c:showBubbleSize val="0"/>
            </c:dLbl>
            <c:dLbl>
              <c:idx val="2"/>
              <c:tx>
                <c:rich>
                  <a:bodyPr/>
                  <a:lstStyle/>
                  <a:p>
                    <a:r>
                      <a:rPr sz="1100" b="1">
                        <a:solidFill>
                          <a:srgbClr val="1E2B3C"/>
                        </a:solidFill>
                      </a:rPr>
                      <a:t>831</a:t>
                    </a:r>
                  </a:p>
                </c:rich>
              </c:tx>
              <c:showLegendKey val="0"/>
              <c:showVal val="1"/>
              <c:showCatName val="0"/>
              <c:showSerName val="0"/>
              <c:showPercent val="0"/>
              <c:showBubbleSize val="0"/>
            </c:dLbl>
            <c:dLbl>
              <c:idx val="3"/>
              <c:tx>
                <c:rich>
                  <a:bodyPr/>
                  <a:lstStyle/>
                  <a:p>
                    <a:r>
                      <a:rPr sz="1100" b="1">
                        <a:solidFill>
                          <a:srgbClr val="1E2B3C"/>
                        </a:solidFill>
                      </a:rPr>
                      <a:t>942</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Sheet1!$C$2:$C$5</c:f>
              <c:numCache>
                <c:formatCode>General</c:formatCode>
                <c:ptCount val="4"/>
                <c:pt idx="0">
                  <c:v>680</c:v>
                </c:pt>
                <c:pt idx="1">
                  <c:v>658</c:v>
                </c:pt>
                <c:pt idx="2">
                  <c:v>831</c:v>
                </c:pt>
                <c:pt idx="3">
                  <c:v>942</c:v>
                </c:pt>
              </c:numCache>
            </c:numRef>
          </c:val>
        </c:ser>
        <c:ser>
          <c:idx val="2"/>
          <c:order val="2"/>
          <c:tx>
            <c:strRef>
              <c:f>Sheet1!$D$1</c:f>
              <c:strCache>
                <c:ptCount val="1"/>
                <c:pt idx="0">
                  <c:v>Stage 3</c:v>
                </c:pt>
              </c:strCache>
            </c:strRef>
          </c:tx>
          <c:spPr>
            <a:solidFill>
              <a:srgbClr val="E34948"/>
            </a:solidFill>
            <a:ln w="19050">
              <a:solidFill>
                <a:srgbClr val="FFFFFF"/>
              </a:solidFill>
            </a:ln>
          </c:spPr>
          <c:dLbls>
            <c:dLbl>
              <c:idx val="0"/>
              <c:layout>
                <c:manualLayout>
                  <c:x val="0.0000"/>
                  <c:y val="0.0850"/>
                </c:manualLayout>
              </c:layout>
              <c:tx>
                <c:rich>
                  <a:bodyPr/>
                  <a:lstStyle/>
                  <a:p>
                    <a:r>
                      <a:rPr sz="1100" b="1">
                        <a:solidFill>
                          <a:srgbClr val="1E2B3C"/>
                        </a:solidFill>
                      </a:rPr>
                      <a:t>42</a:t>
                    </a:r>
                  </a:p>
                </c:rich>
              </c:tx>
              <c:dLblPos val="ctr"/>
              <c:showLegendKey val="0"/>
              <c:showVal val="1"/>
              <c:showCatName val="0"/>
              <c:showSerName val="0"/>
              <c:showPercent val="0"/>
              <c:showBubbleSize val="0"/>
            </c:dLbl>
            <c:dLbl>
              <c:idx val="1"/>
              <c:tx>
                <c:rich>
                  <a:bodyPr/>
                  <a:lstStyle/>
                  <a:p>
                    <a:r>
                      <a:rPr sz="1100" b="1">
                        <a:solidFill>
                          <a:srgbClr val="FFFFFF"/>
                        </a:solidFill>
                      </a:rPr>
                      <a:t>115</a:t>
                    </a:r>
                  </a:p>
                </c:rich>
              </c:tx>
              <c:showLegendKey val="0"/>
              <c:showVal val="1"/>
              <c:showCatName val="0"/>
              <c:showSerName val="0"/>
              <c:showPercent val="0"/>
              <c:showBubbleSize val="0"/>
            </c:dLbl>
            <c:dLbl>
              <c:idx val="2"/>
              <c:layout>
                <c:manualLayout>
                  <c:x val="0.0000"/>
                  <c:y val="0.0850"/>
                </c:manualLayout>
              </c:layout>
              <c:tx>
                <c:rich>
                  <a:bodyPr/>
                  <a:lstStyle/>
                  <a:p>
                    <a:r>
                      <a:rPr sz="1100" b="1">
                        <a:solidFill>
                          <a:srgbClr val="1E2B3C"/>
                        </a:solidFill>
                      </a:rPr>
                      <a:t>46</a:t>
                    </a:r>
                  </a:p>
                </c:rich>
              </c:tx>
              <c:dLblPos val="ctr"/>
              <c:showLegendKey val="0"/>
              <c:showVal val="1"/>
              <c:showCatName val="0"/>
              <c:showSerName val="0"/>
              <c:showPercent val="0"/>
              <c:showBubbleSize val="0"/>
            </c:dLbl>
            <c:dLbl>
              <c:idx val="3"/>
              <c:tx>
                <c:rich>
                  <a:bodyPr/>
                  <a:lstStyle/>
                  <a:p>
                    <a:r>
                      <a:rPr sz="1100" b="1">
                        <a:solidFill>
                          <a:srgbClr val="FFFFFF"/>
                        </a:solidFill>
                      </a:rPr>
                      <a:t>140</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Sheet1!$D$2:$D$5</c:f>
              <c:numCache>
                <c:formatCode>General</c:formatCode>
                <c:ptCount val="4"/>
                <c:pt idx="0">
                  <c:v>42</c:v>
                </c:pt>
                <c:pt idx="1">
                  <c:v>115</c:v>
                </c:pt>
                <c:pt idx="2">
                  <c:v>46</c:v>
                </c:pt>
                <c:pt idx="3">
                  <c:v>140</c:v>
                </c:pt>
              </c:numCache>
            </c:numRef>
          </c:val>
        </c:ser>
        <c:ser>
          <c:idx val="3"/>
          <c:order val="3"/>
          <c:tx>
            <c:strRef>
              <c:f>Sheet1!$E$1</c:f>
              <c:strCache>
                <c:ptCount val="1"/>
                <c:pt idx="0">
                  <c:v>Closed</c:v>
                </c:pt>
              </c:strCache>
            </c:strRef>
          </c:tx>
          <c:spPr>
            <a:solidFill>
              <a:srgbClr val="6250D6"/>
            </a:solidFill>
            <a:ln w="19050">
              <a:solidFill>
                <a:srgbClr val="FFFFFF"/>
              </a:solidFill>
            </a:ln>
          </c:spPr>
          <c:dLbls>
            <c:dLbl>
              <c:idx val="0"/>
              <c:tx>
                <c:rich>
                  <a:bodyPr/>
                  <a:lstStyle/>
                  <a:p>
                    <a:r>
                      <a:rPr sz="1100" b="1">
                        <a:solidFill>
                          <a:srgbClr val="FFFFFF"/>
                        </a:solidFill>
                      </a:rPr>
                      <a:t>1,586</a:t>
                    </a:r>
                  </a:p>
                </c:rich>
              </c:tx>
              <c:showLegendKey val="0"/>
              <c:showVal val="1"/>
              <c:showCatName val="0"/>
              <c:showSerName val="0"/>
              <c:showPercent val="0"/>
              <c:showBubbleSize val="0"/>
            </c:dLbl>
            <c:dLbl>
              <c:idx val="1"/>
              <c:tx>
                <c:rich>
                  <a:bodyPr/>
                  <a:lstStyle/>
                  <a:p>
                    <a:r>
                      <a:rPr sz="1100" b="1">
                        <a:solidFill>
                          <a:srgbClr val="FFFFFF"/>
                        </a:solidFill>
                      </a:rPr>
                      <a:t>123</a:t>
                    </a:r>
                  </a:p>
                </c:rich>
              </c:tx>
              <c:showLegendKey val="0"/>
              <c:showVal val="1"/>
              <c:showCatName val="0"/>
              <c:showSerName val="0"/>
              <c:showPercent val="0"/>
              <c:showBubbleSize val="0"/>
            </c:dLbl>
            <c:dLbl>
              <c:idx val="2"/>
              <c:tx>
                <c:rich>
                  <a:bodyPr/>
                  <a:lstStyle/>
                  <a:p>
                    <a:r>
                      <a:rPr sz="1100" b="1">
                        <a:solidFill>
                          <a:srgbClr val="FFFFFF"/>
                        </a:solidFill>
                      </a:rPr>
                      <a:t>1,180</a:t>
                    </a:r>
                  </a:p>
                </c:rich>
              </c:tx>
              <c:showLegendKey val="0"/>
              <c:showVal val="1"/>
              <c:showCatName val="0"/>
              <c:showSerName val="0"/>
              <c:showPercent val="0"/>
              <c:showBubbleSize val="0"/>
            </c:dLbl>
            <c:dLbl>
              <c:idx val="3"/>
              <c:tx>
                <c:rich>
                  <a:bodyPr/>
                  <a:lstStyle/>
                  <a:p>
                    <a:r>
                      <a:rPr sz="1100" b="1">
                        <a:solidFill>
                          <a:srgbClr val="FFFFFF"/>
                        </a:solidFill>
                      </a:rPr>
                      <a:t>112</a:t>
                    </a:r>
                  </a:p>
                </c:rich>
              </c:tx>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PL36, stage 1 at 30 June</c:v>
                </c:pt>
                <c:pt idx="1">
                  <c:v>PL36, stage 2 at 30 June</c:v>
                </c:pt>
                <c:pt idx="2">
                  <c:v>PL60, stage 1 at 30 June</c:v>
                </c:pt>
                <c:pt idx="3">
                  <c:v>PL60, stage 2 at 30 June</c:v>
                </c:pt>
              </c:strCache>
            </c:strRef>
          </c:cat>
          <c:val>
            <c:numRef>
              <c:f>Sheet1!$E$2:$E$5</c:f>
              <c:numCache>
                <c:formatCode>General</c:formatCode>
                <c:ptCount val="4"/>
                <c:pt idx="0">
                  <c:v>1586</c:v>
                </c:pt>
                <c:pt idx="1">
                  <c:v>123</c:v>
                </c:pt>
                <c:pt idx="2">
                  <c:v>1180</c:v>
                </c:pt>
                <c:pt idx="3">
                  <c:v>112</c:v>
                </c:pt>
              </c:numCache>
            </c:numRef>
          </c:val>
        </c:ser>
        <c:gapWidth val="55"/>
        <c:overlap val="100"/>
        <c:axId val="-2068027336"/>
        <c:axId val="-2113994440"/>
      </c:barChart>
      <c:catAx>
        <c:axId val="-2068027336"/>
        <c:scaling>
          <c:orientation val="maxMin"/>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numFmt formatCode="0%" sourceLinked="0"/>
        <c:majorTickMark val="out"/>
        <c:minorTickMark val="none"/>
        <c:tickLblPos val="nextTo"/>
        <c:txPr>
          <a:bodyPr/>
          <a:lstStyle/>
          <a:p>
            <a:pPr>
              <a:defRPr sz="1000"/>
            </a:pPr>
          </a:p>
        </c:txPr>
        <c:crossAx val="-2068027336"/>
        <c:crosses val="autoZero"/>
      </c:valAx>
    </c:plotArea>
    <c:legend>
      <c:legendPos val="t"/>
      <c:overlay val="0"/>
      <c:txPr>
        <a:bodyPr/>
        <a:lstStyle/>
        <a:p>
          <a:pPr>
            <a:defRPr sz="1100"/>
          </a:pPr>
        </a:p>
      </c:txPr>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60000"/>
            <a:ext cx="10980000" cy="936000"/>
          </a:xfrm>
          <a:prstGeom prst="rect">
            <a:avLst/>
          </a:prstGeom>
          <a:noFill/>
        </p:spPr>
        <p:txBody>
          <a:bodyPr wrap="square">
            <a:spAutoFit/>
          </a:bodyPr>
          <a:lstStyle/>
          <a:p>
            <a:r>
              <a:rPr sz="2400" b="1">
                <a:solidFill>
                  <a:srgbClr val="1E2B3C"/>
                </a:solidFill>
              </a:rPr>
              <a:t>Book a collective ECL allowance of $13.2 million at 30 September 2026</a:t>
            </a:r>
          </a:p>
          <a:p>
            <a:r>
              <a:rPr sz="1300">
                <a:solidFill>
                  <a:srgbClr val="5B6670"/>
                </a:solidFill>
              </a:rPr>
              <a:t>Stage 1 $10.6 million and stage 2 $2.6 million; 343 loans in stage 3 are assessed separately under CRM-ECL-06</a:t>
            </a:r>
          </a:p>
        </p:txBody>
      </p:sp>
      <p:graphicFrame>
        <p:nvGraphicFramePr>
          <p:cNvPr id="3" name="Table 2"/>
          <p:cNvGraphicFramePr>
            <a:graphicFrameLocks noGrp="1"/>
          </p:cNvGraphicFramePr>
          <p:nvPr/>
        </p:nvGraphicFramePr>
        <p:xfrm>
          <a:off x="576000" y="1944000"/>
          <a:ext cx="6839999" cy="1872000"/>
        </p:xfrm>
        <a:graphic>
          <a:graphicData uri="http://schemas.openxmlformats.org/drawingml/2006/table">
            <a:tbl>
              <a:tblPr firstRow="1" bandRow="1">
                <a:tableStyleId>{5C22544A-7EE6-4342-B048-85BDC9FD1C3A}</a:tableStyleId>
              </a:tblPr>
              <a:tblGrid>
                <a:gridCol w="3096000"/>
                <a:gridCol w="1655999"/>
                <a:gridCol w="2088000"/>
              </a:tblGrid>
              <a:tr h="468000">
                <a:tc>
                  <a:txBody>
                    <a:bodyPr/>
                    <a:lstStyle/>
                    <a:p>
                      <a:r>
                        <a:rPr sz="1600" b="1">
                          <a:solidFill>
                            <a:srgbClr val="FFFFFF"/>
                          </a:solidFill>
                        </a:rPr>
                        <a:t/>
                      </a:r>
                    </a:p>
                  </a:txBody>
                  <a:tcPr>
                    <a:solidFill>
                      <a:srgbClr val="1E2B3C"/>
                    </a:solidFill>
                  </a:tcPr>
                </a:tc>
                <a:tc>
                  <a:txBody>
                    <a:bodyPr/>
                    <a:lstStyle/>
                    <a:p>
                      <a:pPr algn="r"/>
                      <a:r>
                        <a:rPr sz="1600" b="1">
                          <a:solidFill>
                            <a:srgbClr val="FFFFFF"/>
                          </a:solidFill>
                        </a:rPr>
                        <a:t>Loans</a:t>
                      </a:r>
                    </a:p>
                  </a:txBody>
                  <a:tcPr>
                    <a:solidFill>
                      <a:srgbClr val="1E2B3C"/>
                    </a:solidFill>
                  </a:tcPr>
                </a:tc>
                <a:tc>
                  <a:txBody>
                    <a:bodyPr/>
                    <a:lstStyle/>
                    <a:p>
                      <a:pPr algn="r"/>
                      <a:r>
                        <a:rPr sz="1600" b="1">
                          <a:solidFill>
                            <a:srgbClr val="FFFFFF"/>
                          </a:solidFill>
                        </a:rPr>
                        <a:t>Allowance</a:t>
                      </a:r>
                    </a:p>
                  </a:txBody>
                  <a:tcPr>
                    <a:solidFill>
                      <a:srgbClr val="1E2B3C"/>
                    </a:solidFill>
                  </a:tcPr>
                </a:tc>
              </a:tr>
              <a:tr h="468000">
                <a:tc>
                  <a:txBody>
                    <a:bodyPr/>
                    <a:lstStyle/>
                    <a:p>
                      <a:r>
                        <a:rPr sz="1600" b="0">
                          <a:solidFill>
                            <a:srgbClr val="1E2B3C"/>
                          </a:solidFill>
                        </a:rPr>
                        <a:t>Stage 1</a:t>
                      </a:r>
                    </a:p>
                  </a:txBody>
                  <a:tcPr>
                    <a:solidFill>
                      <a:srgbClr val="FFFFFF"/>
                    </a:solidFill>
                  </a:tcPr>
                </a:tc>
                <a:tc>
                  <a:txBody>
                    <a:bodyPr/>
                    <a:lstStyle/>
                    <a:p>
                      <a:pPr algn="r"/>
                      <a:r>
                        <a:rPr sz="1600" b="0">
                          <a:solidFill>
                            <a:srgbClr val="1E2B3C"/>
                          </a:solidFill>
                        </a:rPr>
                        <a:t>37,288</a:t>
                      </a:r>
                    </a:p>
                  </a:txBody>
                  <a:tcPr>
                    <a:solidFill>
                      <a:srgbClr val="FFFFFF"/>
                    </a:solidFill>
                  </a:tcPr>
                </a:tc>
                <a:tc>
                  <a:txBody>
                    <a:bodyPr/>
                    <a:lstStyle/>
                    <a:p>
                      <a:pPr algn="r"/>
                      <a:r>
                        <a:rPr sz="1600" b="0">
                          <a:solidFill>
                            <a:srgbClr val="1E2B3C"/>
                          </a:solidFill>
                        </a:rPr>
                        <a:t>$10.6 million</a:t>
                      </a:r>
                    </a:p>
                  </a:txBody>
                  <a:tcPr>
                    <a:solidFill>
                      <a:srgbClr val="FFFFFF"/>
                    </a:solidFill>
                  </a:tcPr>
                </a:tc>
              </a:tr>
              <a:tr h="468000">
                <a:tc>
                  <a:txBody>
                    <a:bodyPr/>
                    <a:lstStyle/>
                    <a:p>
                      <a:r>
                        <a:rPr sz="1600" b="0">
                          <a:solidFill>
                            <a:srgbClr val="1E2B3C"/>
                          </a:solidFill>
                        </a:rPr>
                        <a:t>Stage 2</a:t>
                      </a:r>
                    </a:p>
                  </a:txBody>
                  <a:tcPr>
                    <a:solidFill>
                      <a:srgbClr val="FFFFFF"/>
                    </a:solidFill>
                  </a:tcPr>
                </a:tc>
                <a:tc>
                  <a:txBody>
                    <a:bodyPr/>
                    <a:lstStyle/>
                    <a:p>
                      <a:pPr algn="r"/>
                      <a:r>
                        <a:rPr sz="1600" b="0">
                          <a:solidFill>
                            <a:srgbClr val="1E2B3C"/>
                          </a:solidFill>
                        </a:rPr>
                        <a:t>3,266</a:t>
                      </a:r>
                    </a:p>
                  </a:txBody>
                  <a:tcPr>
                    <a:solidFill>
                      <a:srgbClr val="FFFFFF"/>
                    </a:solidFill>
                  </a:tcPr>
                </a:tc>
                <a:tc>
                  <a:txBody>
                    <a:bodyPr/>
                    <a:lstStyle/>
                    <a:p>
                      <a:pPr algn="r"/>
                      <a:r>
                        <a:rPr sz="1600" b="0">
                          <a:solidFill>
                            <a:srgbClr val="1E2B3C"/>
                          </a:solidFill>
                        </a:rPr>
                        <a:t>$2.6 million</a:t>
                      </a:r>
                    </a:p>
                  </a:txBody>
                  <a:tcPr>
                    <a:solidFill>
                      <a:srgbClr val="FFFFFF"/>
                    </a:solidFill>
                  </a:tcPr>
                </a:tc>
              </a:tr>
              <a:tr h="468000">
                <a:tc>
                  <a:txBody>
                    <a:bodyPr/>
                    <a:lstStyle/>
                    <a:p>
                      <a:r>
                        <a:rPr sz="1600" b="1">
                          <a:solidFill>
                            <a:srgbClr val="1E2B3C"/>
                          </a:solidFill>
                        </a:rPr>
                        <a:t>Collective allowance</a:t>
                      </a:r>
                    </a:p>
                  </a:txBody>
                  <a:tcPr>
                    <a:solidFill>
                      <a:srgbClr val="EEF1F4"/>
                    </a:solidFill>
                  </a:tcPr>
                </a:tc>
                <a:tc>
                  <a:txBody>
                    <a:bodyPr/>
                    <a:lstStyle/>
                    <a:p>
                      <a:pPr algn="r"/>
                      <a:r>
                        <a:rPr sz="1600" b="1">
                          <a:solidFill>
                            <a:srgbClr val="1E2B3C"/>
                          </a:solidFill>
                        </a:rPr>
                        <a:t>40,554</a:t>
                      </a:r>
                    </a:p>
                  </a:txBody>
                  <a:tcPr>
                    <a:solidFill>
                      <a:srgbClr val="EEF1F4"/>
                    </a:solidFill>
                  </a:tcPr>
                </a:tc>
                <a:tc>
                  <a:txBody>
                    <a:bodyPr/>
                    <a:lstStyle/>
                    <a:p>
                      <a:pPr algn="r"/>
                      <a:r>
                        <a:rPr sz="1600" b="1">
                          <a:solidFill>
                            <a:srgbClr val="1E2B3C"/>
                          </a:solidFill>
                        </a:rPr>
                        <a:t>$13.2 million</a:t>
                      </a:r>
                    </a:p>
                  </a:txBody>
                  <a:tcPr>
                    <a:solidFill>
                      <a:srgbClr val="EEF1F4"/>
                    </a:solidFill>
                  </a:tcPr>
                </a:tc>
              </a:tr>
            </a:tbl>
          </a:graphicData>
        </a:graphic>
      </p:graphicFrame>
      <p:sp>
        <p:nvSpPr>
          <p:cNvPr id="4" name="TextBox 3"/>
          <p:cNvSpPr txBox="1"/>
          <p:nvPr/>
        </p:nvSpPr>
        <p:spPr>
          <a:xfrm>
            <a:off x="576000" y="4176000"/>
            <a:ext cx="10980000" cy="1440000"/>
          </a:xfrm>
          <a:prstGeom prst="rect">
            <a:avLst/>
          </a:prstGeom>
          <a:noFill/>
        </p:spPr>
        <p:txBody>
          <a:bodyPr wrap="square">
            <a:spAutoFit/>
          </a:bodyPr>
          <a:lstStyle/>
          <a:p>
            <a:r>
              <a:rPr sz="1200">
                <a:solidFill>
                  <a:srgbClr val="5B6670"/>
                </a:solidFill>
              </a:rPr>
              <a:t>Each performing loan's monthly default probability is read from its product's default and repayment rates by month on book in the loan record, counting the loans taken over at the 2019 go-live only from then; stage 2 carries the 2.4 scalar and the scenarios are weighted 55 / 30 / 15 per cent (multiplier 1.06). Amounts in AUD million.</a:t>
            </a:r>
          </a:p>
        </p:txBody>
      </p:sp>
      <p:sp>
        <p:nvSpPr>
          <p:cNvPr id="5" name="TextBox 4"/>
          <p:cNvSpPr txBox="1"/>
          <p:nvPr/>
        </p:nvSpPr>
        <p:spPr>
          <a:xfrm>
            <a:off x="576000" y="6048000"/>
            <a:ext cx="10980000" cy="288000"/>
          </a:xfrm>
          <a:prstGeom prst="rect">
            <a:avLst/>
          </a:prstGeom>
          <a:noFill/>
        </p:spPr>
        <p:txBody>
          <a:bodyPr wrap="none">
            <a:spAutoFit/>
          </a:bodyPr>
          <a:lstStyle/>
          <a:p>
            <a:r>
              <a:rPr sz="900">
                <a:solidFill>
                  <a:srgbClr val="5B6670"/>
                </a:solidFill>
              </a:rPr>
              <a:t>Source: loan system extract and loan record at 30 September 2026; scenarios approved 18 September 2026</a:t>
            </a:r>
          </a:p>
        </p:txBody>
      </p:sp>
      <p:sp>
        <p:nvSpPr>
          <p:cNvPr id="6" name="TextBox 5"/>
          <p:cNvSpPr txBox="1"/>
          <p:nvPr/>
        </p:nvSpPr>
        <p:spPr>
          <a:xfrm>
            <a:off x="576000" y="6372000"/>
            <a:ext cx="10980000" cy="288000"/>
          </a:xfrm>
          <a:prstGeom prst="rect">
            <a:avLst/>
          </a:prstGeom>
          <a:noFill/>
        </p:spPr>
        <p:txBody>
          <a:bodyPr wrap="none">
            <a:spAutoFit/>
          </a:bodyPr>
          <a:lstStyle/>
          <a:p>
            <a:r>
              <a:rPr sz="900">
                <a:solidFill>
                  <a:srgbClr val="5B6670"/>
                </a:solidFill>
              </a:rPr>
              <a:t>Bellbird Personal Finance  |  Board, 23 October 2026  |  Credit Risk Reporting  |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76000" y="360000"/>
            <a:ext cx="10980000" cy="936000"/>
          </a:xfrm>
          <a:prstGeom prst="rect">
            <a:avLst/>
          </a:prstGeom>
          <a:noFill/>
        </p:spPr>
        <p:txBody>
          <a:bodyPr wrap="square">
            <a:spAutoFit/>
          </a:bodyPr>
          <a:lstStyle/>
          <a:p>
            <a:r>
              <a:rPr sz="2400" b="1">
                <a:solidFill>
                  <a:srgbClr val="1E2B3C"/>
                </a:solidFill>
              </a:rPr>
              <a:t>1,599 stage 1 loans moved to stage 2 or 3 this quarter and 1,028 stage 2 loans returned to stage 1</a:t>
            </a:r>
          </a:p>
          <a:p>
            <a:r>
              <a:rPr sz="1300">
                <a:solidFill>
                  <a:srgbClr val="5B6670"/>
                </a:solidFill>
              </a:rPr>
              <a:t>Loans in stage 1 or stage 2 at 30 June 2026, by where they stand at 30 September 2026</a:t>
            </a:r>
          </a:p>
        </p:txBody>
      </p:sp>
      <p:graphicFrame>
        <p:nvGraphicFramePr>
          <p:cNvPr id="3" name="Chart 2"/>
          <p:cNvGraphicFramePr>
            <a:graphicFrameLocks noGrp="1"/>
          </p:cNvGraphicFramePr>
          <p:nvPr/>
        </p:nvGraphicFramePr>
        <p:xfrm>
          <a:off x="576000" y="1584000"/>
          <a:ext cx="10980000" cy="4428000"/>
        </p:xfrm>
        <a:graphic>
          <a:graphicData uri="http://schemas.openxmlformats.org/drawingml/2006/chart">
            <c:chart xmlns:c="http://schemas.openxmlformats.org/drawingml/2006/chart" r:id="rId2"/>
          </a:graphicData>
        </a:graphic>
      </p:graphicFrame>
      <p:sp>
        <p:nvSpPr>
          <p:cNvPr id="4" name="TextBox 3"/>
          <p:cNvSpPr txBox="1"/>
          <p:nvPr/>
        </p:nvSpPr>
        <p:spPr>
          <a:xfrm>
            <a:off x="576000" y="6048000"/>
            <a:ext cx="10980000" cy="288000"/>
          </a:xfrm>
          <a:prstGeom prst="rect">
            <a:avLst/>
          </a:prstGeom>
          <a:noFill/>
        </p:spPr>
        <p:txBody>
          <a:bodyPr wrap="none">
            <a:spAutoFit/>
          </a:bodyPr>
          <a:lstStyle/>
          <a:p>
            <a:r>
              <a:rPr sz="900">
                <a:solidFill>
                  <a:srgbClr val="5B6670"/>
                </a:solidFill>
              </a:rPr>
              <a:t>Source: loan system extracts at 30 June and 30 September 2026; June month-end scoring run (1 July); hardship register at 30 September. Stages under CRM-ECL-04 section 2; closed = repaid, settled or written off.</a:t>
            </a:r>
          </a:p>
        </p:txBody>
      </p:sp>
      <p:sp>
        <p:nvSpPr>
          <p:cNvPr id="5" name="TextBox 4"/>
          <p:cNvSpPr txBox="1"/>
          <p:nvPr/>
        </p:nvSpPr>
        <p:spPr>
          <a:xfrm>
            <a:off x="576000" y="6372000"/>
            <a:ext cx="10980000" cy="288000"/>
          </a:xfrm>
          <a:prstGeom prst="rect">
            <a:avLst/>
          </a:prstGeom>
          <a:noFill/>
        </p:spPr>
        <p:txBody>
          <a:bodyPr wrap="none">
            <a:spAutoFit/>
          </a:bodyPr>
          <a:lstStyle/>
          <a:p>
            <a:r>
              <a:rPr sz="900">
                <a:solidFill>
                  <a:srgbClr val="5B6670"/>
                </a:solidFill>
              </a:rPr>
              <a:t>Bellbird Personal Finance  |  Board, 23 October 2026  |  Credit Risk Reporting  |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94</TotalTime>
  <Words>225</Words>
  <Application>Microsoft Office PowerPoint</Application>
  <PresentationFormat>Widescreen</PresentationFormat>
  <Paragraphs>20</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Office Theme</vt:lpstr>
      <vt:lpstr>Book a collective ECL allowance of $13.2 million at 30 September 2026</vt:lpstr>
      <vt:lpstr>1,599 stage 1 loans moved to stage 2 or 3 this quarter and 1,028 stage 2 loans returned to stage 1</vt:lpstr>
    </vt:vector>
  </TitlesOfParts>
  <Manager/>
  <Company>Bellbird Personal Finance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ECL allowance, Q1 FY27</dc:title>
  <dc:subject/>
  <dc:creator>Joseph Mitchell</dc:creator>
  <cp:keywords/>
  <dc:description/>
  <cp:lastModifiedBy>Joseph Mitchell</cp:lastModifiedBy>
  <cp:revision>3</cp:revision>
  <dcterms:created xsi:type="dcterms:W3CDTF">2026-10-08T05:41:00Z</dcterms:created>
  <dcterms:modified xsi:type="dcterms:W3CDTF">2026-10-09T05:20:00Z</dcterms:modified>
</cp:coreProperties>
</file>