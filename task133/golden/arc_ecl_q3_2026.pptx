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PL36</c:v>
                </c:pt>
              </c:strCache>
            </c:strRef>
          </c:tx>
          <c:spPr>
            <a:solidFill>
              <a:srgbClr val="2E6F73"/>
            </a:solidFill>
          </c:spPr>
          <c:dLbls>
            <c:dLbl>
              <c:idx val="1"/>
              <c:tx>
                <c:rich>
                  <a:bodyPr/>
                  <a:lstStyle/>
                  <a:p>
                    <a:r>
                      <a:rPr sz="1000">
                        <a:solidFill>
                          <a:srgbClr val="1E2B3C"/>
                        </a:solidFill>
                      </a:rPr>
                      <a:t>$0.2m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>
                        <a:solidFill>
                          <a:srgbClr val="1E2B3C"/>
                        </a:solidFill>
                      </a:rPr>
                      <a:t>$0.9m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>
                        <a:solidFill>
                          <a:srgbClr val="1E2B3C"/>
                        </a:solidFill>
                      </a:rPr>
                      <a:t>$2.8m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 and earlier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0.005</c:v>
                </c:pt>
                <c:pt idx="1">
                  <c:v>0.159</c:v>
                </c:pt>
                <c:pt idx="2">
                  <c:v>0.94</c:v>
                </c:pt>
                <c:pt idx="3">
                  <c:v>2.779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PL60</c:v>
                </c:pt>
              </c:strCache>
            </c:strRef>
          </c:tx>
          <c:spPr>
            <a:solidFill>
              <a:srgbClr val="C9A25F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000">
                        <a:solidFill>
                          <a:srgbClr val="1E2B3C"/>
                        </a:solidFill>
                      </a:rPr>
                      <a:t>$0.6m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>
                        <a:solidFill>
                          <a:srgbClr val="1E2B3C"/>
                        </a:solidFill>
                      </a:rPr>
                      <a:t>$1.1m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>
                        <a:solidFill>
                          <a:srgbClr val="1E2B3C"/>
                        </a:solidFill>
                      </a:rPr>
                      <a:t>$2.4m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>
                        <a:solidFill>
                          <a:srgbClr val="1E2B3C"/>
                        </a:solidFill>
                      </a:rPr>
                      <a:t>$5.8m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2023 and earlier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0.641</c:v>
                </c:pt>
                <c:pt idx="1">
                  <c:v>1.073</c:v>
                </c:pt>
                <c:pt idx="2">
                  <c:v>2.412</c:v>
                </c:pt>
                <c:pt idx="3">
                  <c:v>5.763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&quot;$&quot;0.0&quot;m&quot;" sourceLinked="0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10980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2B3C"/>
                </a:solidFill>
              </a:rPr>
              <a:t>Book a collective ECL allowance of $13,773,000 on personal loans at 30 September 2026</a:t>
            </a:r>
          </a:p>
          <a:p>
            <a:r>
              <a:rPr sz="1300">
                <a:solidFill>
                  <a:srgbClr val="5B6670"/>
                </a:solidFill>
              </a:rPr>
              <a:t>Stage 1 $10,933,000, stage 2 $2,840,000; 343 loans in stage 3 sit outside the collective model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76000" y="1872000"/>
          <a:ext cx="10980000" cy="25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6000"/>
                <a:gridCol w="1296000"/>
                <a:gridCol w="1512000"/>
                <a:gridCol w="2664000"/>
                <a:gridCol w="2304000"/>
                <a:gridCol w="1908000"/>
              </a:tblGrid>
              <a:tr h="5040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E2B3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Product</a:t>
                      </a:r>
                    </a:p>
                  </a:txBody>
                  <a:tcPr>
                    <a:solidFill>
                      <a:srgbClr val="1E2B3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</a:rPr>
                        <a:t>Loans</a:t>
                      </a:r>
                    </a:p>
                  </a:txBody>
                  <a:tcPr>
                    <a:solidFill>
                      <a:srgbClr val="1E2B3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</a:rPr>
                        <a:t>Gross carrying amount</a:t>
                      </a:r>
                    </a:p>
                  </a:txBody>
                  <a:tcPr>
                    <a:solidFill>
                      <a:srgbClr val="1E2B3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</a:rPr>
                        <a:t>Allowance</a:t>
                      </a:r>
                    </a:p>
                  </a:txBody>
                  <a:tcPr>
                    <a:solidFill>
                      <a:srgbClr val="1E2B3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</a:rPr>
                        <a:t>Coverage</a:t>
                      </a:r>
                    </a:p>
                  </a:txBody>
                  <a:tcPr>
                    <a:solidFill>
                      <a:srgbClr val="1E2B3C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B3C"/>
                          </a:solidFill>
                        </a:rPr>
                        <a:t>Stage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B3C"/>
                          </a:solidFill>
                        </a:rPr>
                        <a:t>PL36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17,109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$138,349,000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$3,202,000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2.31%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B3C"/>
                          </a:solidFill>
                        </a:rPr>
                        <a:t>Stage 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B3C"/>
                          </a:solidFill>
                        </a:rPr>
                        <a:t>PL60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20,180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$330,436,000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$7,731,000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2.34%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B3C"/>
                          </a:solidFill>
                        </a:rPr>
                        <a:t>Stage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B3C"/>
                          </a:solidFill>
                        </a:rPr>
                        <a:t>PL36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1,421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$11,728,000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$681,000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5.81%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40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B3C"/>
                          </a:solidFill>
                        </a:rPr>
                        <a:t>Stage 2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E2B3C"/>
                          </a:solidFill>
                        </a:rPr>
                        <a:t>PL60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1,844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$28,735,000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$2,159,000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1E2B3C"/>
                          </a:solidFill>
                        </a:rPr>
                        <a:t>7.51%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76000" y="4680000"/>
            <a:ext cx="109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5B6670"/>
                </a:solidFill>
              </a:rPr>
              <a:t>Probability of default is read from the PLPD-2026.06 curve from each loan's months on book at the reporting date, conditional on the loan still performing, with the 2.4 stage 2 scalar; scenarios weighted 55 / 30 / 15 per cent (multiplier 1.0600). Amounts to the nearest thousand dollars.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6372000"/>
            <a:ext cx="109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670"/>
                </a:solidFill>
              </a:rPr>
              <a:t>Bellbird Personal Finance  |  Audit and Risk Committee, 23 October 2026  |  Credit Risk Reporting  |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60000"/>
            <a:ext cx="10980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E2B3C"/>
                </a:solidFill>
              </a:rPr>
              <a:t>2026 PL60 lending carries the largest share of the allowance, $5,763,000</a:t>
            </a:r>
          </a:p>
          <a:p>
            <a:r>
              <a:rPr sz="1300">
                <a:solidFill>
                  <a:srgbClr val="5B6670"/>
                </a:solidFill>
              </a:rPr>
              <a:t>Collective ECL allowance by drawdown year and product, AUD, 30 September 2026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76000" y="1655999"/>
          <a:ext cx="10980000" cy="450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76000" y="6372000"/>
            <a:ext cx="1098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B6670"/>
                </a:solidFill>
              </a:rPr>
              <a:t>Bellbird Personal Finance  |  Audit and Risk Committee, 23 October 2026  |  Credit Risk Reporting  | 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171</Words>
  <Application>Microsoft Office PowerPoint</Application>
  <PresentationFormat>Widescreen</PresentationFormat>
  <Paragraphs>37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Office Theme</vt:lpstr>
      <vt:lpstr>Book a collective ECL allowance of $13,773,000 on personal loans at 30 September 2026</vt:lpstr>
      <vt:lpstr>2026 PL60 lending carries the largest share of the allowance, $5,763,000</vt:lpstr>
    </vt:vector>
  </TitlesOfParts>
  <Manager/>
  <Company>Bellbird Personal Finance Ltd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ECL allowance, Q1 FY27</dc:title>
  <dc:subject/>
  <dc:creator>Joseph Mitchell</dc:creator>
  <cp:keywords/>
  <dc:description/>
  <cp:lastModifiedBy>Joseph Mitchell</cp:lastModifiedBy>
  <cp:revision>3</cp:revision>
  <dcterms:created xsi:type="dcterms:W3CDTF">2026-10-08T05:41:00Z</dcterms:created>
  <dcterms:modified xsi:type="dcterms:W3CDTF">2026-10-09T05:20:00Z</dcterms:modified>
</cp:coreProperties>
</file>