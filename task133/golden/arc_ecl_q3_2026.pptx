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PL36</c:v>
                </c:pt>
              </c:strCache>
            </c:strRef>
          </c:tx>
          <c:spPr>
            <a:solidFill>
              <a:srgbClr val="2E6F73"/>
            </a:solidFill>
          </c:spPr>
          <c:dLbls>
            <c:dLbl>
              <c:idx val="1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$0.2m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$0.9m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$2.8m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 and earlier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0.005</c:v>
                </c:pt>
                <c:pt idx="1">
                  <c:v>0.158</c:v>
                </c:pt>
                <c:pt idx="2">
                  <c:v>0.896</c:v>
                </c:pt>
                <c:pt idx="3">
                  <c:v>2.832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PL60</c:v>
                </c:pt>
              </c:strCache>
            </c:strRef>
          </c:tx>
          <c:spPr>
            <a:solidFill>
              <a:srgbClr val="C9A25F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$0.6m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$1.1m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$2.4m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$5.7m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 and earlier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0.599</c:v>
                </c:pt>
                <c:pt idx="1">
                  <c:v>1.054</c:v>
                </c:pt>
                <c:pt idx="2">
                  <c:v>2.443</c:v>
                </c:pt>
                <c:pt idx="3">
                  <c:v>5.68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&quot;$&quot;0.0&quot;m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09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B3C"/>
                </a:solidFill>
              </a:rPr>
              <a:t>Book a collective ECL allowance of $13,667,000 on personal loans at 30 September 2026</a:t>
            </a:r>
          </a:p>
          <a:p>
            <a:r>
              <a:rPr sz="1300">
                <a:solidFill>
                  <a:srgbClr val="5B6670"/>
                </a:solidFill>
              </a:rPr>
              <a:t>Stage 1 $10,958,000, stage 2 $2,709,000; 363 loans in stage 3 sit outside the collective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6000" y="1872000"/>
          <a:ext cx="1098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/>
                <a:gridCol w="1296000"/>
                <a:gridCol w="1512000"/>
                <a:gridCol w="2664000"/>
                <a:gridCol w="2304000"/>
                <a:gridCol w="1908000"/>
              </a:tblGrid>
              <a:tr h="504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Loans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Gross carrying amount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Allowance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Stage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PL36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17,157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$138,511,000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$3,217,000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Stage 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PL60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20,055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$329,546,000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$7,740,000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2.35%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Stage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PL36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1,406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$11,229,000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$673,000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5.99%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Stage 2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PL60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1,714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$26,379,000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$2,036,000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7.72%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6000" y="4680000"/>
            <a:ext cx="109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670"/>
                </a:solidFill>
              </a:rPr>
              <a:t>Probability of default is read from the PLPD-2026.06 curve from each loan's months on book at the reporting date, conditional on the loan still performing, with the 2.4 stage 2 scalar; scenarios weighted 55 / 30 / 15 per cent (multiplier 1.0600). Amounts to the nearest thousand dollars.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372000"/>
            <a:ext cx="109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670"/>
                </a:solidFill>
              </a:rPr>
              <a:t>Bellbird Personal Finance  |  Audit and Risk Committee, 23 October 2026  |  Credit Risk Reporting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09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B3C"/>
                </a:solidFill>
              </a:rPr>
              <a:t>2026 PL60 lending carries the largest share of the allowance, $5,680,000</a:t>
            </a:r>
          </a:p>
          <a:p>
            <a:r>
              <a:rPr sz="1300">
                <a:solidFill>
                  <a:srgbClr val="5B6670"/>
                </a:solidFill>
              </a:rPr>
              <a:t>Collective ECL allowance by drawdown year and product, AUD, 30 September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76000" y="1655999"/>
          <a:ext cx="10980000" cy="45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6000" y="6372000"/>
            <a:ext cx="109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670"/>
                </a:solidFill>
              </a:rPr>
              <a:t>Bellbird Personal Finance  |  Audit and Risk Committee, 23 October 2026  |  Credit Risk Reporting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Bellbird Personal Finance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ECL allowance, Q1 FY27</dc:title>
  <dc:subject/>
  <dc:creator>Joseph Mitchell</dc:creator>
  <cp:keywords/>
  <dc:description/>
  <cp:lastModifiedBy>Joseph Mitchell</cp:lastModifiedBy>
  <cp:revision>3</cp:revision>
  <dcterms:created xsi:type="dcterms:W3CDTF">2026-10-08T05:41:00Z</dcterms:created>
  <dcterms:modified xsi:type="dcterms:W3CDTF">2026-10-09T05:20:00Z</dcterms:modified>
</cp:coreProperties>
</file>