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16000" cy="576000"/>
          </a:xfrm>
          <a:prstGeom prst="rect">
            <a:avLst/>
          </a:prstGeom>
          <a:noFill/>
        </p:spPr>
        <p:txBody>
          <a:bodyPr wrap="square">
            <a:spAutoFit/>
          </a:bodyPr>
          <a:lstStyle/>
          <a:p>
            <a:r>
              <a:rPr sz="2400" b="1">
                <a:solidFill>
                  <a:srgbClr val="1F2F3F"/>
                </a:solidFill>
              </a:rPr>
              <a:t>2027 contribution to the Trust: $587,000</a:t>
            </a:r>
          </a:p>
        </p:txBody>
      </p:sp>
      <p:sp>
        <p:nvSpPr>
          <p:cNvPr id="3" name="TextBox 2"/>
          <p:cNvSpPr txBox="1"/>
          <p:nvPr/>
        </p:nvSpPr>
        <p:spPr>
          <a:xfrm>
            <a:off x="576000" y="900000"/>
            <a:ext cx="11016000" cy="360000"/>
          </a:xfrm>
          <a:prstGeom prst="rect">
            <a:avLst/>
          </a:prstGeom>
          <a:noFill/>
        </p:spPr>
        <p:txBody>
          <a:bodyPr wrap="square">
            <a:spAutoFit/>
          </a:bodyPr>
          <a:lstStyle/>
          <a:p>
            <a:r>
              <a:rPr sz="1300" b="0">
                <a:solidFill>
                  <a:srgbClr val="5A6672"/>
                </a:solidFill>
              </a:rPr>
              <a:t>Recommended: the Participating Entities contribute $587,000 for 2027, the expected cost of the 10.2 Claims expected to be first made against the Trust in its first Plan Year</a:t>
            </a:r>
          </a:p>
        </p:txBody>
      </p:sp>
      <p:sp>
        <p:nvSpPr>
          <p:cNvPr id="4" name="TextBox 3"/>
          <p:cNvSpPr txBox="1"/>
          <p:nvPr/>
        </p:nvSpPr>
        <p:spPr>
          <a:xfrm>
            <a:off x="576000" y="6443999"/>
            <a:ext cx="11016000" cy="251999"/>
          </a:xfrm>
          <a:prstGeom prst="rect">
            <a:avLst/>
          </a:prstGeom>
          <a:noFill/>
        </p:spPr>
        <p:txBody>
          <a:bodyPr wrap="square">
            <a:spAutoFit/>
          </a:bodyPr>
          <a:lstStyle/>
          <a:p>
            <a:r>
              <a:rPr sz="900" b="0">
                <a:solidFill>
                  <a:srgbClr val="5A6672"/>
                </a:solidFill>
              </a:rPr>
              <a:t>Corvane Health, Risk Management and Insurance  |  Trustees of the Corvane Professional Liability Trust, 10 November 2026  |  1</a:t>
            </a:r>
          </a:p>
        </p:txBody>
      </p:sp>
      <p:graphicFrame>
        <p:nvGraphicFramePr>
          <p:cNvPr id="5" name="Table 4"/>
          <p:cNvGraphicFramePr>
            <a:graphicFrameLocks noGrp="1"/>
          </p:cNvGraphicFramePr>
          <p:nvPr/>
        </p:nvGraphicFramePr>
        <p:xfrm>
          <a:off x="576000" y="1548000"/>
          <a:ext cx="10871997" cy="2051999"/>
        </p:xfrm>
        <a:graphic>
          <a:graphicData uri="http://schemas.openxmlformats.org/drawingml/2006/table">
            <a:tbl>
              <a:tblPr firstRow="1" bandRow="1">
                <a:tableStyleId>{5C22544A-7EE6-4342-B048-85BDC9FD1C3A}</a:tableStyleId>
              </a:tblPr>
              <a:tblGrid>
                <a:gridCol w="3024000"/>
                <a:gridCol w="2015999"/>
                <a:gridCol w="2160000"/>
                <a:gridCol w="1655999"/>
                <a:gridCol w="2015999"/>
              </a:tblGrid>
              <a:tr h="341999">
                <a:tc>
                  <a:txBody>
                    <a:bodyPr/>
                    <a:lstStyle/>
                    <a:p>
                      <a:r>
                        <a:rPr sz="1100" b="1">
                          <a:solidFill>
                            <a:srgbClr val="FFFFFF"/>
                          </a:solidFill>
                        </a:rPr>
                        <a:t>Participating Entity</a:t>
                      </a:r>
                    </a:p>
                  </a:txBody>
                  <a:tcPr>
                    <a:solidFill>
                      <a:srgbClr val="1F2F3F"/>
                    </a:solidFill>
                  </a:tcPr>
                </a:tc>
                <a:tc>
                  <a:txBody>
                    <a:bodyPr/>
                    <a:lstStyle/>
                    <a:p>
                      <a:r>
                        <a:rPr sz="1100" b="1">
                          <a:solidFill>
                            <a:srgbClr val="FFFFFF"/>
                          </a:solidFill>
                        </a:rPr>
                        <a:t>Joins the Trust</a:t>
                      </a:r>
                    </a:p>
                  </a:txBody>
                  <a:tcPr>
                    <a:solidFill>
                      <a:srgbClr val="1F2F3F"/>
                    </a:solidFill>
                  </a:tcPr>
                </a:tc>
                <a:tc>
                  <a:txBody>
                    <a:bodyPr/>
                    <a:lstStyle/>
                    <a:p>
                      <a:pPr algn="r"/>
                      <a:r>
                        <a:rPr sz="1100" b="1">
                          <a:solidFill>
                            <a:srgbClr val="FFFFFF"/>
                          </a:solidFill>
                        </a:rPr>
                        <a:t>Covered FTE-years, 2027</a:t>
                      </a:r>
                    </a:p>
                  </a:txBody>
                  <a:tcPr>
                    <a:solidFill>
                      <a:srgbClr val="1F2F3F"/>
                    </a:solidFill>
                  </a:tcPr>
                </a:tc>
                <a:tc>
                  <a:txBody>
                    <a:bodyPr/>
                    <a:lstStyle/>
                    <a:p>
                      <a:pPr algn="r"/>
                      <a:r>
                        <a:rPr sz="1100" b="1">
                          <a:solidFill>
                            <a:srgbClr val="FFFFFF"/>
                          </a:solidFill>
                        </a:rPr>
                        <a:t>Share</a:t>
                      </a:r>
                    </a:p>
                  </a:txBody>
                  <a:tcPr>
                    <a:solidFill>
                      <a:srgbClr val="1F2F3F"/>
                    </a:solidFill>
                  </a:tcPr>
                </a:tc>
                <a:tc>
                  <a:txBody>
                    <a:bodyPr/>
                    <a:lstStyle/>
                    <a:p>
                      <a:pPr algn="r"/>
                      <a:r>
                        <a:rPr sz="1100" b="1">
                          <a:solidFill>
                            <a:srgbClr val="FFFFFF"/>
                          </a:solidFill>
                        </a:rPr>
                        <a:t>Pays ($)</a:t>
                      </a:r>
                    </a:p>
                  </a:txBody>
                  <a:tcPr>
                    <a:solidFill>
                      <a:srgbClr val="1F2F3F"/>
                    </a:solidFill>
                  </a:tcPr>
                </a:tc>
              </a:tr>
              <a:tr h="341999">
                <a:tc>
                  <a:txBody>
                    <a:bodyPr/>
                    <a:lstStyle/>
                    <a:p>
                      <a:r>
                        <a:rPr sz="1200" b="0">
                          <a:solidFill>
                            <a:srgbClr val="1F2F3F"/>
                          </a:solidFill>
                        </a:rPr>
                        <a:t>Tolliver Falls Hospital</a:t>
                      </a:r>
                    </a:p>
                  </a:txBody>
                  <a:tcPr>
                    <a:solidFill>
                      <a:srgbClr val="FFFFFF"/>
                    </a:solidFill>
                  </a:tcPr>
                </a:tc>
                <a:tc>
                  <a:txBody>
                    <a:bodyPr/>
                    <a:lstStyle/>
                    <a:p>
                      <a:r>
                        <a:rPr sz="1200" b="0">
                          <a:solidFill>
                            <a:srgbClr val="1F2F3F"/>
                          </a:solidFill>
                        </a:rPr>
                        <a:t>1 January 2027</a:t>
                      </a:r>
                    </a:p>
                  </a:txBody>
                  <a:tcPr>
                    <a:solidFill>
                      <a:srgbClr val="FFFFFF"/>
                    </a:solidFill>
                  </a:tcPr>
                </a:tc>
                <a:tc>
                  <a:txBody>
                    <a:bodyPr/>
                    <a:lstStyle/>
                    <a:p>
                      <a:pPr algn="r"/>
                      <a:r>
                        <a:rPr sz="1200" b="0">
                          <a:solidFill>
                            <a:srgbClr val="1F2F3F"/>
                          </a:solidFill>
                        </a:rPr>
                        <a:t>113.4</a:t>
                      </a:r>
                    </a:p>
                  </a:txBody>
                  <a:tcPr>
                    <a:solidFill>
                      <a:srgbClr val="FFFFFF"/>
                    </a:solidFill>
                  </a:tcPr>
                </a:tc>
                <a:tc>
                  <a:txBody>
                    <a:bodyPr/>
                    <a:lstStyle/>
                    <a:p>
                      <a:pPr algn="r"/>
                      <a:r>
                        <a:rPr sz="1200" b="0">
                          <a:solidFill>
                            <a:srgbClr val="1F2F3F"/>
                          </a:solidFill>
                        </a:rPr>
                        <a:t>18.9%</a:t>
                      </a:r>
                    </a:p>
                  </a:txBody>
                  <a:tcPr>
                    <a:solidFill>
                      <a:srgbClr val="FFFFFF"/>
                    </a:solidFill>
                  </a:tcPr>
                </a:tc>
                <a:tc>
                  <a:txBody>
                    <a:bodyPr/>
                    <a:lstStyle/>
                    <a:p>
                      <a:pPr algn="r"/>
                      <a:r>
                        <a:rPr sz="1200" b="0">
                          <a:solidFill>
                            <a:srgbClr val="1F2F3F"/>
                          </a:solidFill>
                        </a:rPr>
                        <a:t>111,000</a:t>
                      </a:r>
                    </a:p>
                  </a:txBody>
                  <a:tcPr>
                    <a:solidFill>
                      <a:srgbClr val="FFFFFF"/>
                    </a:solidFill>
                  </a:tcPr>
                </a:tc>
              </a:tr>
              <a:tr h="341999">
                <a:tc>
                  <a:txBody>
                    <a:bodyPr/>
                    <a:lstStyle/>
                    <a:p>
                      <a:r>
                        <a:rPr sz="1200" b="0">
                          <a:solidFill>
                            <a:srgbClr val="1F2F3F"/>
                          </a:solidFill>
                        </a:rPr>
                        <a:t>Alderwick Medical Center</a:t>
                      </a:r>
                    </a:p>
                  </a:txBody>
                  <a:tcPr>
                    <a:solidFill>
                      <a:srgbClr val="FFFFFF"/>
                    </a:solidFill>
                  </a:tcPr>
                </a:tc>
                <a:tc>
                  <a:txBody>
                    <a:bodyPr/>
                    <a:lstStyle/>
                    <a:p>
                      <a:r>
                        <a:rPr sz="1200" b="0">
                          <a:solidFill>
                            <a:srgbClr val="1F2F3F"/>
                          </a:solidFill>
                        </a:rPr>
                        <a:t>1 April 2027</a:t>
                      </a:r>
                    </a:p>
                  </a:txBody>
                  <a:tcPr>
                    <a:solidFill>
                      <a:srgbClr val="FFFFFF"/>
                    </a:solidFill>
                  </a:tcPr>
                </a:tc>
                <a:tc>
                  <a:txBody>
                    <a:bodyPr/>
                    <a:lstStyle/>
                    <a:p>
                      <a:pPr algn="r"/>
                      <a:r>
                        <a:rPr sz="1200" b="0">
                          <a:solidFill>
                            <a:srgbClr val="1F2F3F"/>
                          </a:solidFill>
                        </a:rPr>
                        <a:t>205.5</a:t>
                      </a:r>
                    </a:p>
                  </a:txBody>
                  <a:tcPr>
                    <a:solidFill>
                      <a:srgbClr val="FFFFFF"/>
                    </a:solidFill>
                  </a:tcPr>
                </a:tc>
                <a:tc>
                  <a:txBody>
                    <a:bodyPr/>
                    <a:lstStyle/>
                    <a:p>
                      <a:pPr algn="r"/>
                      <a:r>
                        <a:rPr sz="1200" b="0">
                          <a:solidFill>
                            <a:srgbClr val="1F2F3F"/>
                          </a:solidFill>
                        </a:rPr>
                        <a:t>34.3%</a:t>
                      </a:r>
                    </a:p>
                  </a:txBody>
                  <a:tcPr>
                    <a:solidFill>
                      <a:srgbClr val="FFFFFF"/>
                    </a:solidFill>
                  </a:tcPr>
                </a:tc>
                <a:tc>
                  <a:txBody>
                    <a:bodyPr/>
                    <a:lstStyle/>
                    <a:p>
                      <a:pPr algn="r"/>
                      <a:r>
                        <a:rPr sz="1200" b="0">
                          <a:solidFill>
                            <a:srgbClr val="1F2F3F"/>
                          </a:solidFill>
                        </a:rPr>
                        <a:t>201,000</a:t>
                      </a:r>
                    </a:p>
                  </a:txBody>
                  <a:tcPr>
                    <a:solidFill>
                      <a:srgbClr val="FFFFFF"/>
                    </a:solidFill>
                  </a:tcPr>
                </a:tc>
              </a:tr>
              <a:tr h="341999">
                <a:tc>
                  <a:txBody>
                    <a:bodyPr/>
                    <a:lstStyle/>
                    <a:p>
                      <a:r>
                        <a:rPr sz="1200" b="0">
                          <a:solidFill>
                            <a:srgbClr val="1F2F3F"/>
                          </a:solidFill>
                        </a:rPr>
                        <a:t>Corvane Medical Group</a:t>
                      </a:r>
                    </a:p>
                  </a:txBody>
                  <a:tcPr>
                    <a:solidFill>
                      <a:srgbClr val="FFFFFF"/>
                    </a:solidFill>
                  </a:tcPr>
                </a:tc>
                <a:tc>
                  <a:txBody>
                    <a:bodyPr/>
                    <a:lstStyle/>
                    <a:p>
                      <a:r>
                        <a:rPr sz="1200" b="0">
                          <a:solidFill>
                            <a:srgbClr val="1F2F3F"/>
                          </a:solidFill>
                        </a:rPr>
                        <a:t>1 July 2027</a:t>
                      </a:r>
                    </a:p>
                  </a:txBody>
                  <a:tcPr>
                    <a:solidFill>
                      <a:srgbClr val="FFFFFF"/>
                    </a:solidFill>
                  </a:tcPr>
                </a:tc>
                <a:tc>
                  <a:txBody>
                    <a:bodyPr/>
                    <a:lstStyle/>
                    <a:p>
                      <a:pPr algn="r"/>
                      <a:r>
                        <a:rPr sz="1200" b="0">
                          <a:solidFill>
                            <a:srgbClr val="1F2F3F"/>
                          </a:solidFill>
                        </a:rPr>
                        <a:t>265.4</a:t>
                      </a:r>
                    </a:p>
                  </a:txBody>
                  <a:tcPr>
                    <a:solidFill>
                      <a:srgbClr val="FFFFFF"/>
                    </a:solidFill>
                  </a:tcPr>
                </a:tc>
                <a:tc>
                  <a:txBody>
                    <a:bodyPr/>
                    <a:lstStyle/>
                    <a:p>
                      <a:pPr algn="r"/>
                      <a:r>
                        <a:rPr sz="1200" b="0">
                          <a:solidFill>
                            <a:srgbClr val="1F2F3F"/>
                          </a:solidFill>
                        </a:rPr>
                        <a:t>44.2%</a:t>
                      </a:r>
                    </a:p>
                  </a:txBody>
                  <a:tcPr>
                    <a:solidFill>
                      <a:srgbClr val="FFFFFF"/>
                    </a:solidFill>
                  </a:tcPr>
                </a:tc>
                <a:tc>
                  <a:txBody>
                    <a:bodyPr/>
                    <a:lstStyle/>
                    <a:p>
                      <a:pPr algn="r"/>
                      <a:r>
                        <a:rPr sz="1200" b="0">
                          <a:solidFill>
                            <a:srgbClr val="1F2F3F"/>
                          </a:solidFill>
                        </a:rPr>
                        <a:t>260,000</a:t>
                      </a:r>
                    </a:p>
                  </a:txBody>
                  <a:tcPr>
                    <a:solidFill>
                      <a:srgbClr val="FFFFFF"/>
                    </a:solidFill>
                  </a:tcPr>
                </a:tc>
              </a:tr>
              <a:tr h="341999">
                <a:tc>
                  <a:txBody>
                    <a:bodyPr/>
                    <a:lstStyle/>
                    <a:p>
                      <a:r>
                        <a:rPr sz="1200" b="0">
                          <a:solidFill>
                            <a:srgbClr val="1F2F3F"/>
                          </a:solidFill>
                        </a:rPr>
                        <a:t>Brennick Community Hospital</a:t>
                      </a:r>
                    </a:p>
                  </a:txBody>
                  <a:tcPr>
                    <a:solidFill>
                      <a:srgbClr val="FFFFFF"/>
                    </a:solidFill>
                  </a:tcPr>
                </a:tc>
                <a:tc>
                  <a:txBody>
                    <a:bodyPr/>
                    <a:lstStyle/>
                    <a:p>
                      <a:r>
                        <a:rPr sz="1200" b="0">
                          <a:solidFill>
                            <a:srgbClr val="1F2F3F"/>
                          </a:solidFill>
                        </a:rPr>
                        <a:t>1 October 2027</a:t>
                      </a:r>
                    </a:p>
                  </a:txBody>
                  <a:tcPr>
                    <a:solidFill>
                      <a:srgbClr val="FFFFFF"/>
                    </a:solidFill>
                  </a:tcPr>
                </a:tc>
                <a:tc>
                  <a:txBody>
                    <a:bodyPr/>
                    <a:lstStyle/>
                    <a:p>
                      <a:pPr algn="r"/>
                      <a:r>
                        <a:rPr sz="1200" b="0">
                          <a:solidFill>
                            <a:srgbClr val="1F2F3F"/>
                          </a:solidFill>
                        </a:rPr>
                        <a:t>15.6</a:t>
                      </a:r>
                    </a:p>
                  </a:txBody>
                  <a:tcPr>
                    <a:solidFill>
                      <a:srgbClr val="FFFFFF"/>
                    </a:solidFill>
                  </a:tcPr>
                </a:tc>
                <a:tc>
                  <a:txBody>
                    <a:bodyPr/>
                    <a:lstStyle/>
                    <a:p>
                      <a:pPr algn="r"/>
                      <a:r>
                        <a:rPr sz="1200" b="0">
                          <a:solidFill>
                            <a:srgbClr val="1F2F3F"/>
                          </a:solidFill>
                        </a:rPr>
                        <a:t>2.6%</a:t>
                      </a:r>
                    </a:p>
                  </a:txBody>
                  <a:tcPr>
                    <a:solidFill>
                      <a:srgbClr val="FFFFFF"/>
                    </a:solidFill>
                  </a:tcPr>
                </a:tc>
                <a:tc>
                  <a:txBody>
                    <a:bodyPr/>
                    <a:lstStyle/>
                    <a:p>
                      <a:pPr algn="r"/>
                      <a:r>
                        <a:rPr sz="1200" b="0">
                          <a:solidFill>
                            <a:srgbClr val="1F2F3F"/>
                          </a:solidFill>
                        </a:rPr>
                        <a:t>15,000</a:t>
                      </a:r>
                    </a:p>
                  </a:txBody>
                  <a:tcPr>
                    <a:solidFill>
                      <a:srgbClr val="FFFFFF"/>
                    </a:solidFill>
                  </a:tcPr>
                </a:tc>
              </a:tr>
              <a:tr h="342004">
                <a:tc>
                  <a:txBody>
                    <a:bodyPr/>
                    <a:lstStyle/>
                    <a:p>
                      <a:r>
                        <a:rPr sz="1200" b="1">
                          <a:solidFill>
                            <a:srgbClr val="1F2F3F"/>
                          </a:solidFill>
                        </a:rPr>
                        <a:t>All entities</a:t>
                      </a:r>
                    </a:p>
                  </a:txBody>
                  <a:tcPr>
                    <a:solidFill>
                      <a:srgbClr val="EEF1F4"/>
                    </a:solidFill>
                  </a:tcPr>
                </a:tc>
                <a:tc>
                  <a:txBody>
                    <a:bodyPr/>
                    <a:lstStyle/>
                    <a:p>
                      <a:r>
                        <a:rPr sz="1200" b="1">
                          <a:solidFill>
                            <a:srgbClr val="1F2F3F"/>
                          </a:solidFill>
                        </a:rPr>
                        <a:t/>
                      </a:r>
                    </a:p>
                  </a:txBody>
                  <a:tcPr>
                    <a:solidFill>
                      <a:srgbClr val="EEF1F4"/>
                    </a:solidFill>
                  </a:tcPr>
                </a:tc>
                <a:tc>
                  <a:txBody>
                    <a:bodyPr/>
                    <a:lstStyle/>
                    <a:p>
                      <a:pPr algn="r"/>
                      <a:r>
                        <a:rPr sz="1200" b="1">
                          <a:solidFill>
                            <a:srgbClr val="1F2F3F"/>
                          </a:solidFill>
                        </a:rPr>
                        <a:t>599.9</a:t>
                      </a:r>
                    </a:p>
                  </a:txBody>
                  <a:tcPr>
                    <a:solidFill>
                      <a:srgbClr val="EEF1F4"/>
                    </a:solidFill>
                  </a:tcPr>
                </a:tc>
                <a:tc>
                  <a:txBody>
                    <a:bodyPr/>
                    <a:lstStyle/>
                    <a:p>
                      <a:pPr algn="r"/>
                      <a:r>
                        <a:rPr sz="1200" b="1">
                          <a:solidFill>
                            <a:srgbClr val="1F2F3F"/>
                          </a:solidFill>
                        </a:rPr>
                        <a:t>100.0%</a:t>
                      </a:r>
                    </a:p>
                  </a:txBody>
                  <a:tcPr>
                    <a:solidFill>
                      <a:srgbClr val="EEF1F4"/>
                    </a:solidFill>
                  </a:tcPr>
                </a:tc>
                <a:tc>
                  <a:txBody>
                    <a:bodyPr/>
                    <a:lstStyle/>
                    <a:p>
                      <a:pPr algn="r"/>
                      <a:r>
                        <a:rPr sz="1200" b="1">
                          <a:solidFill>
                            <a:srgbClr val="1F2F3F"/>
                          </a:solidFill>
                        </a:rPr>
                        <a:t>587,000</a:t>
                      </a:r>
                    </a:p>
                  </a:txBody>
                  <a:tcPr>
                    <a:solidFill>
                      <a:srgbClr val="EEF1F4"/>
                    </a:solidFill>
                  </a:tcPr>
                </a:tc>
              </a:tr>
            </a:tbl>
          </a:graphicData>
        </a:graphic>
      </p:graphicFrame>
      <p:sp>
        <p:nvSpPr>
          <p:cNvPr id="6" name="TextBox 5"/>
          <p:cNvSpPr txBox="1"/>
          <p:nvPr/>
        </p:nvSpPr>
        <p:spPr>
          <a:xfrm>
            <a:off x="576000" y="3960000"/>
            <a:ext cx="11016000" cy="2160000"/>
          </a:xfrm>
          <a:prstGeom prst="rect">
            <a:avLst/>
          </a:prstGeom>
          <a:noFill/>
        </p:spPr>
        <p:txBody>
          <a:bodyPr wrap="square">
            <a:spAutoFit/>
          </a:bodyPr>
          <a:lstStyle/>
          <a:p>
            <a:r>
              <a:rPr sz="1200" b="0">
                <a:solidFill>
                  <a:srgbClr val="5A6672"/>
                </a:solidFill>
              </a:rPr>
              <a:t>The Trust is claims-made and each entity's Transition Date is its Retroactive Date: in 2027 it pays only for Claims made by 31 December from incidents after the entity joined, so the first year catches mostly the requests patients bring within months of their care.</a:t>
            </a:r>
          </a:p>
          <a:p>
            <a:r>
              <a:rPr sz="1200" b="0">
                <a:solidFill>
                  <a:srgbClr val="5A6672"/>
                </a:solidFill>
              </a:rPr>
              <a:t>From its Transition Date every entity's patients can come through the Early Resolution Program, which has served only Tolliver Falls and Alderwick. The window is costed on those hospitals' experience, one rate per specialty class for all four entities; on the System's pooled experience it would be about half.</a:t>
            </a:r>
          </a:p>
          <a:p>
            <a:r>
              <a:rPr sz="1200" b="0">
                <a:solidFill>
                  <a:srgbClr val="5A6672"/>
                </a:solidFill>
              </a:rPr>
              <a:t>Shares follow the 2027 exposure (funding policy section 2). No provision for expenses, investment income, excess insurance or margin (3.6).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24000"/>
            <a:ext cx="11016000" cy="576000"/>
          </a:xfrm>
          <a:prstGeom prst="rect">
            <a:avLst/>
          </a:prstGeom>
          <a:noFill/>
        </p:spPr>
        <p:txBody>
          <a:bodyPr wrap="square">
            <a:spAutoFit/>
          </a:bodyPr>
          <a:lstStyle/>
          <a:p>
            <a:r>
              <a:rPr sz="2400" b="1">
                <a:solidFill>
                  <a:srgbClr val="1F2F3F"/>
                </a:solidFill>
              </a:rPr>
              <a:t>The 2027 cost builds through the year as each entity joins</a:t>
            </a:r>
          </a:p>
        </p:txBody>
      </p:sp>
      <p:sp>
        <p:nvSpPr>
          <p:cNvPr id="3" name="TextBox 2"/>
          <p:cNvSpPr txBox="1"/>
          <p:nvPr/>
        </p:nvSpPr>
        <p:spPr>
          <a:xfrm>
            <a:off x="576000" y="900000"/>
            <a:ext cx="11016000" cy="360000"/>
          </a:xfrm>
          <a:prstGeom prst="rect">
            <a:avLst/>
          </a:prstGeom>
          <a:noFill/>
        </p:spPr>
        <p:txBody>
          <a:bodyPr wrap="square">
            <a:spAutoFit/>
          </a:bodyPr>
          <a:lstStyle/>
          <a:p>
            <a:r>
              <a:rPr sz="1300" b="0">
                <a:solidFill>
                  <a:srgbClr val="5A6672"/>
                </a:solidFill>
              </a:rPr>
              <a:t>Expected cost of the Claims made against the Trust in each month of 2027, by entity, $000 at 2027 cost level</a:t>
            </a:r>
          </a:p>
        </p:txBody>
      </p:sp>
      <p:sp>
        <p:nvSpPr>
          <p:cNvPr id="4" name="TextBox 3"/>
          <p:cNvSpPr txBox="1"/>
          <p:nvPr/>
        </p:nvSpPr>
        <p:spPr>
          <a:xfrm>
            <a:off x="576000" y="6443999"/>
            <a:ext cx="11016000" cy="251999"/>
          </a:xfrm>
          <a:prstGeom prst="rect">
            <a:avLst/>
          </a:prstGeom>
          <a:noFill/>
        </p:spPr>
        <p:txBody>
          <a:bodyPr wrap="square">
            <a:spAutoFit/>
          </a:bodyPr>
          <a:lstStyle/>
          <a:p>
            <a:r>
              <a:rPr sz="900" b="0">
                <a:solidFill>
                  <a:srgbClr val="5A6672"/>
                </a:solidFill>
              </a:rPr>
              <a:t>Corvane Health, Risk Management and Insurance  |  Trustees of the Corvane Professional Liability Trust, 10 November 2026  |  2</a:t>
            </a:r>
          </a:p>
        </p:txBody>
      </p:sp>
      <p:pic>
        <p:nvPicPr>
          <p:cNvPr id="5" name="Picture 4" descr="image.png"/>
          <p:cNvPicPr>
            <a:picLocks noChangeAspect="1"/>
          </p:cNvPicPr>
          <p:nvPr/>
        </p:nvPicPr>
        <p:blipFill>
          <a:blip r:embed="rId2"/>
          <a:stretch>
            <a:fillRect/>
          </a:stretch>
        </p:blipFill>
        <p:spPr>
          <a:xfrm>
            <a:off x="936000" y="1260000"/>
            <a:ext cx="9936000" cy="4761000"/>
          </a:xfrm>
          <a:prstGeom prst="rect">
            <a:avLst/>
          </a:prstGeom>
        </p:spPr>
      </p:pic>
      <p:sp>
        <p:nvSpPr>
          <p:cNvPr id="6" name="TextBox 5"/>
          <p:cNvSpPr txBox="1"/>
          <p:nvPr/>
        </p:nvSpPr>
        <p:spPr>
          <a:xfrm>
            <a:off x="576000" y="6083999"/>
            <a:ext cx="11016000" cy="288000"/>
          </a:xfrm>
          <a:prstGeom prst="rect">
            <a:avLst/>
          </a:prstGeom>
          <a:noFill/>
        </p:spPr>
        <p:txBody>
          <a:bodyPr wrap="square">
            <a:spAutoFit/>
          </a:bodyPr>
          <a:lstStyle/>
          <a:p>
            <a:r>
              <a:rPr sz="900" b="0">
                <a:solidFill>
                  <a:srgbClr val="5A6672"/>
                </a:solidFill>
              </a:rPr>
              <a:t>Source: risk management claims register valued 30 September 2026 (Tolliver Falls and Alderwick incidents 2017 to 2024, trended at 5.0% a year); clinician staffing plan 2027. Each entity counts from its Transition 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 contribution 2027</dc:title>
  <dc:creator>Nancy Holland</dc:creator>
  <cp:lastModifiedBy>Nancy Holland</cp:lastModifiedBy>
  <dcterms:created xsi:type="dcterms:W3CDTF">2026-10-13T16:22:05Z</dcterms:created>
  <dcterms:modified xsi:type="dcterms:W3CDTF">2026-10-14T01:10:47Z</dcterms:modified>
</cp:coreProperties>
</file>