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211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1016000" cy="576000"/>
          </a:xfrm>
          <a:prstGeom prst="rect">
            <a:avLst/>
          </a:prstGeom>
          <a:noFill/>
        </p:spPr>
        <p:txBody>
          <a:bodyPr wrap="square">
            <a:spAutoFit/>
          </a:bodyPr>
          <a:lstStyle/>
          <a:p>
            <a:r>
              <a:rPr sz="2400" b="1">
                <a:solidFill>
                  <a:srgbClr val="1F2F3F"/>
                </a:solidFill>
              </a:rPr>
              <a:t>2027 contribution to the Trust: $1,250,000</a:t>
            </a:r>
          </a:p>
        </p:txBody>
      </p:sp>
      <p:sp>
        <p:nvSpPr>
          <p:cNvPr id="3" name="TextBox 2"/>
          <p:cNvSpPr txBox="1"/>
          <p:nvPr/>
        </p:nvSpPr>
        <p:spPr>
          <a:xfrm>
            <a:off x="576000" y="900000"/>
            <a:ext cx="11016000" cy="360000"/>
          </a:xfrm>
          <a:prstGeom prst="rect">
            <a:avLst/>
          </a:prstGeom>
          <a:noFill/>
        </p:spPr>
        <p:txBody>
          <a:bodyPr wrap="square">
            <a:spAutoFit/>
          </a:bodyPr>
          <a:lstStyle/>
          <a:p>
            <a:r>
              <a:rPr sz="1300" b="0">
                <a:solidFill>
                  <a:srgbClr val="5A6672"/>
                </a:solidFill>
              </a:rPr>
              <a:t>Recommended: the Participating Entities contribute $1,250,000 for 2027, the expected cost of the Claims that will be first made against the Trust in its first Plan Year</a:t>
            </a:r>
          </a:p>
        </p:txBody>
      </p:sp>
      <p:sp>
        <p:nvSpPr>
          <p:cNvPr id="4" name="TextBox 3"/>
          <p:cNvSpPr txBox="1"/>
          <p:nvPr/>
        </p:nvSpPr>
        <p:spPr>
          <a:xfrm>
            <a:off x="576000" y="6443999"/>
            <a:ext cx="11016000" cy="251999"/>
          </a:xfrm>
          <a:prstGeom prst="rect">
            <a:avLst/>
          </a:prstGeom>
          <a:noFill/>
        </p:spPr>
        <p:txBody>
          <a:bodyPr wrap="square">
            <a:spAutoFit/>
          </a:bodyPr>
          <a:lstStyle/>
          <a:p>
            <a:r>
              <a:rPr sz="900" b="0">
                <a:solidFill>
                  <a:srgbClr val="5A6672"/>
                </a:solidFill>
              </a:rPr>
              <a:t>Corvane Health, Risk Management and Insurance  |  Trustees of the Corvane Professional Liability Trust, 10 November 2026  |  1</a:t>
            </a:r>
          </a:p>
        </p:txBody>
      </p:sp>
      <p:graphicFrame>
        <p:nvGraphicFramePr>
          <p:cNvPr id="5" name="Table 4"/>
          <p:cNvGraphicFramePr>
            <a:graphicFrameLocks noGrp="1"/>
          </p:cNvGraphicFramePr>
          <p:nvPr/>
        </p:nvGraphicFramePr>
        <p:xfrm>
          <a:off x="576000" y="1548000"/>
          <a:ext cx="8424000" cy="1710000"/>
        </p:xfrm>
        <a:graphic>
          <a:graphicData uri="http://schemas.openxmlformats.org/drawingml/2006/table">
            <a:tbl>
              <a:tblPr firstRow="1" bandRow="1">
                <a:tableStyleId>{5C22544A-7EE6-4342-B048-85BDC9FD1C3A}</a:tableStyleId>
              </a:tblPr>
              <a:tblGrid>
                <a:gridCol w="3384000"/>
                <a:gridCol w="2304000"/>
                <a:gridCol w="2736000"/>
              </a:tblGrid>
              <a:tr h="342000">
                <a:tc>
                  <a:txBody>
                    <a:bodyPr/>
                    <a:lstStyle/>
                    <a:p>
                      <a:r>
                        <a:rPr sz="1100" b="1">
                          <a:solidFill>
                            <a:srgbClr val="FFFFFF"/>
                          </a:solidFill>
                        </a:rPr>
                        <a:t>Participating Entity</a:t>
                      </a:r>
                    </a:p>
                  </a:txBody>
                  <a:tcPr>
                    <a:solidFill>
                      <a:srgbClr val="1F2F3F"/>
                    </a:solidFill>
                  </a:tcPr>
                </a:tc>
                <a:tc>
                  <a:txBody>
                    <a:bodyPr/>
                    <a:lstStyle/>
                    <a:p>
                      <a:r>
                        <a:rPr sz="1100" b="1">
                          <a:solidFill>
                            <a:srgbClr val="FFFFFF"/>
                          </a:solidFill>
                        </a:rPr>
                        <a:t>Joins the Trust</a:t>
                      </a:r>
                    </a:p>
                  </a:txBody>
                  <a:tcPr>
                    <a:solidFill>
                      <a:srgbClr val="1F2F3F"/>
                    </a:solidFill>
                  </a:tcPr>
                </a:tc>
                <a:tc>
                  <a:txBody>
                    <a:bodyPr/>
                    <a:lstStyle/>
                    <a:p>
                      <a:pPr algn="r"/>
                      <a:r>
                        <a:rPr sz="1100" b="1">
                          <a:solidFill>
                            <a:srgbClr val="FFFFFF"/>
                          </a:solidFill>
                        </a:rPr>
                        <a:t>Months in the Trust in 2027</a:t>
                      </a:r>
                    </a:p>
                  </a:txBody>
                  <a:tcPr>
                    <a:solidFill>
                      <a:srgbClr val="1F2F3F"/>
                    </a:solidFill>
                  </a:tcPr>
                </a:tc>
              </a:tr>
              <a:tr h="342000">
                <a:tc>
                  <a:txBody>
                    <a:bodyPr/>
                    <a:lstStyle/>
                    <a:p>
                      <a:r>
                        <a:rPr sz="1200" b="0">
                          <a:solidFill>
                            <a:srgbClr val="1F2F3F"/>
                          </a:solidFill>
                        </a:rPr>
                        <a:t>Tolliver Falls Hospital</a:t>
                      </a:r>
                    </a:p>
                  </a:txBody>
                  <a:tcPr>
                    <a:solidFill>
                      <a:srgbClr val="FFFFFF"/>
                    </a:solidFill>
                  </a:tcPr>
                </a:tc>
                <a:tc>
                  <a:txBody>
                    <a:bodyPr/>
                    <a:lstStyle/>
                    <a:p>
                      <a:r>
                        <a:rPr sz="1200" b="0">
                          <a:solidFill>
                            <a:srgbClr val="1F2F3F"/>
                          </a:solidFill>
                        </a:rPr>
                        <a:t>1 January 2027</a:t>
                      </a:r>
                    </a:p>
                  </a:txBody>
                  <a:tcPr>
                    <a:solidFill>
                      <a:srgbClr val="FFFFFF"/>
                    </a:solidFill>
                  </a:tcPr>
                </a:tc>
                <a:tc>
                  <a:txBody>
                    <a:bodyPr/>
                    <a:lstStyle/>
                    <a:p>
                      <a:pPr algn="r"/>
                      <a:r>
                        <a:rPr sz="1200" b="0">
                          <a:solidFill>
                            <a:srgbClr val="1F2F3F"/>
                          </a:solidFill>
                        </a:rPr>
                        <a:t>12</a:t>
                      </a:r>
                    </a:p>
                  </a:txBody>
                  <a:tcPr>
                    <a:solidFill>
                      <a:srgbClr val="FFFFFF"/>
                    </a:solidFill>
                  </a:tcPr>
                </a:tc>
              </a:tr>
              <a:tr h="342000">
                <a:tc>
                  <a:txBody>
                    <a:bodyPr/>
                    <a:lstStyle/>
                    <a:p>
                      <a:r>
                        <a:rPr sz="1200" b="0">
                          <a:solidFill>
                            <a:srgbClr val="1F2F3F"/>
                          </a:solidFill>
                        </a:rPr>
                        <a:t>Alderwick Medical Center</a:t>
                      </a:r>
                    </a:p>
                  </a:txBody>
                  <a:tcPr>
                    <a:solidFill>
                      <a:srgbClr val="FFFFFF"/>
                    </a:solidFill>
                  </a:tcPr>
                </a:tc>
                <a:tc>
                  <a:txBody>
                    <a:bodyPr/>
                    <a:lstStyle/>
                    <a:p>
                      <a:r>
                        <a:rPr sz="1200" b="0">
                          <a:solidFill>
                            <a:srgbClr val="1F2F3F"/>
                          </a:solidFill>
                        </a:rPr>
                        <a:t>1 April 2027</a:t>
                      </a:r>
                    </a:p>
                  </a:txBody>
                  <a:tcPr>
                    <a:solidFill>
                      <a:srgbClr val="FFFFFF"/>
                    </a:solidFill>
                  </a:tcPr>
                </a:tc>
                <a:tc>
                  <a:txBody>
                    <a:bodyPr/>
                    <a:lstStyle/>
                    <a:p>
                      <a:pPr algn="r"/>
                      <a:r>
                        <a:rPr sz="1200" b="0">
                          <a:solidFill>
                            <a:srgbClr val="1F2F3F"/>
                          </a:solidFill>
                        </a:rPr>
                        <a:t>9</a:t>
                      </a:r>
                    </a:p>
                  </a:txBody>
                  <a:tcPr>
                    <a:solidFill>
                      <a:srgbClr val="FFFFFF"/>
                    </a:solidFill>
                  </a:tcPr>
                </a:tc>
              </a:tr>
              <a:tr h="342000">
                <a:tc>
                  <a:txBody>
                    <a:bodyPr/>
                    <a:lstStyle/>
                    <a:p>
                      <a:r>
                        <a:rPr sz="1200" b="0">
                          <a:solidFill>
                            <a:srgbClr val="1F2F3F"/>
                          </a:solidFill>
                        </a:rPr>
                        <a:t>Corvane Medical Group</a:t>
                      </a:r>
                    </a:p>
                  </a:txBody>
                  <a:tcPr>
                    <a:solidFill>
                      <a:srgbClr val="FFFFFF"/>
                    </a:solidFill>
                  </a:tcPr>
                </a:tc>
                <a:tc>
                  <a:txBody>
                    <a:bodyPr/>
                    <a:lstStyle/>
                    <a:p>
                      <a:r>
                        <a:rPr sz="1200" b="0">
                          <a:solidFill>
                            <a:srgbClr val="1F2F3F"/>
                          </a:solidFill>
                        </a:rPr>
                        <a:t>1 July 2027</a:t>
                      </a:r>
                    </a:p>
                  </a:txBody>
                  <a:tcPr>
                    <a:solidFill>
                      <a:srgbClr val="FFFFFF"/>
                    </a:solidFill>
                  </a:tcPr>
                </a:tc>
                <a:tc>
                  <a:txBody>
                    <a:bodyPr/>
                    <a:lstStyle/>
                    <a:p>
                      <a:pPr algn="r"/>
                      <a:r>
                        <a:rPr sz="1200" b="0">
                          <a:solidFill>
                            <a:srgbClr val="1F2F3F"/>
                          </a:solidFill>
                        </a:rPr>
                        <a:t>6</a:t>
                      </a:r>
                    </a:p>
                  </a:txBody>
                  <a:tcPr>
                    <a:solidFill>
                      <a:srgbClr val="FFFFFF"/>
                    </a:solidFill>
                  </a:tcPr>
                </a:tc>
              </a:tr>
              <a:tr h="342000">
                <a:tc>
                  <a:txBody>
                    <a:bodyPr/>
                    <a:lstStyle/>
                    <a:p>
                      <a:r>
                        <a:rPr sz="1200" b="0">
                          <a:solidFill>
                            <a:srgbClr val="1F2F3F"/>
                          </a:solidFill>
                        </a:rPr>
                        <a:t>Brennick Community Hospital</a:t>
                      </a:r>
                    </a:p>
                  </a:txBody>
                  <a:tcPr>
                    <a:solidFill>
                      <a:srgbClr val="FFFFFF"/>
                    </a:solidFill>
                  </a:tcPr>
                </a:tc>
                <a:tc>
                  <a:txBody>
                    <a:bodyPr/>
                    <a:lstStyle/>
                    <a:p>
                      <a:r>
                        <a:rPr sz="1200" b="0">
                          <a:solidFill>
                            <a:srgbClr val="1F2F3F"/>
                          </a:solidFill>
                        </a:rPr>
                        <a:t>1 October 2027</a:t>
                      </a:r>
                    </a:p>
                  </a:txBody>
                  <a:tcPr>
                    <a:solidFill>
                      <a:srgbClr val="FFFFFF"/>
                    </a:solidFill>
                  </a:tcPr>
                </a:tc>
                <a:tc>
                  <a:txBody>
                    <a:bodyPr/>
                    <a:lstStyle/>
                    <a:p>
                      <a:pPr algn="r"/>
                      <a:r>
                        <a:rPr sz="1200" b="0">
                          <a:solidFill>
                            <a:srgbClr val="1F2F3F"/>
                          </a:solidFill>
                        </a:rPr>
                        <a:t>3</a:t>
                      </a:r>
                    </a:p>
                  </a:txBody>
                  <a:tcPr>
                    <a:solidFill>
                      <a:srgbClr val="FFFFFF"/>
                    </a:solidFill>
                  </a:tcPr>
                </a:tc>
              </a:tr>
            </a:tbl>
          </a:graphicData>
        </a:graphic>
      </p:graphicFrame>
      <p:sp>
        <p:nvSpPr>
          <p:cNvPr id="6" name="TextBox 5"/>
          <p:cNvSpPr txBox="1"/>
          <p:nvPr/>
        </p:nvSpPr>
        <p:spPr>
          <a:xfrm>
            <a:off x="576000" y="3816000"/>
            <a:ext cx="11016000" cy="2376000"/>
          </a:xfrm>
          <a:prstGeom prst="rect">
            <a:avLst/>
          </a:prstGeom>
          <a:noFill/>
        </p:spPr>
        <p:txBody>
          <a:bodyPr wrap="square">
            <a:spAutoFit/>
          </a:bodyPr>
          <a:lstStyle/>
          <a:p>
            <a:r>
              <a:rPr sz="1200" b="0">
                <a:solidFill>
                  <a:srgbClr val="5A6672"/>
                </a:solidFill>
              </a:rPr>
              <a:t>The Trust is claims-made, each entity's Transition Date its Retroactive Date: in 2027 it pays only for the Claims made by 31 December from incidents after the entity joined.</a:t>
            </a:r>
          </a:p>
          <a:p>
            <a:r>
              <a:rPr sz="1200" b="0">
                <a:solidFill>
                  <a:srgbClr val="5A6672"/>
                </a:solidFill>
              </a:rPr>
              <a:t>Those are the Claims the System's experience makes within the year: harm disclosed and settled within weeks of the care, which is costly, and program requests a few months on, which settle small. The demands and suits that carry most of the experience's cost come a year or more after the care, after 2027 for every entity.</a:t>
            </a:r>
          </a:p>
          <a:p>
            <a:r>
              <a:rPr sz="1200" b="0">
                <a:solidFill>
                  <a:srgbClr val="5A6672"/>
                </a:solidFill>
              </a:rPr>
              <a:t>Each 2016 to 2024 experience Claim was costed at its own delay from incident to first making against the days each entity is in the Trust in 2027, within its specialty class.</a:t>
            </a:r>
          </a:p>
          <a:p>
            <a:r>
              <a:rPr sz="1200" b="0">
                <a:solidFill>
                  <a:srgbClr val="5A6672"/>
                </a:solidFill>
              </a:rPr>
              <a:t>No provision for expenses, investment income, excess insurance or margin (funding policy 3.5).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6000" y="324000"/>
            <a:ext cx="11016000" cy="576000"/>
          </a:xfrm>
          <a:prstGeom prst="rect">
            <a:avLst/>
          </a:prstGeom>
          <a:noFill/>
        </p:spPr>
        <p:txBody>
          <a:bodyPr wrap="square">
            <a:spAutoFit/>
          </a:bodyPr>
          <a:lstStyle/>
          <a:p>
            <a:r>
              <a:rPr sz="2400" b="1">
                <a:solidFill>
                  <a:srgbClr val="1F2F3F"/>
                </a:solidFill>
              </a:rPr>
              <a:t>Corvane Medical Group carries 58% of the covered clinician FTE the payroll paid in September</a:t>
            </a:r>
          </a:p>
        </p:txBody>
      </p:sp>
      <p:sp>
        <p:nvSpPr>
          <p:cNvPr id="3" name="TextBox 2"/>
          <p:cNvSpPr txBox="1"/>
          <p:nvPr/>
        </p:nvSpPr>
        <p:spPr>
          <a:xfrm>
            <a:off x="576000" y="900000"/>
            <a:ext cx="11016000" cy="360000"/>
          </a:xfrm>
          <a:prstGeom prst="rect">
            <a:avLst/>
          </a:prstGeom>
          <a:noFill/>
        </p:spPr>
        <p:txBody>
          <a:bodyPr wrap="square">
            <a:spAutoFit/>
          </a:bodyPr>
          <a:lstStyle/>
          <a:p>
            <a:r>
              <a:rPr sz="1300" b="0">
                <a:solidFill>
                  <a:srgbClr val="5A6672"/>
                </a:solidFill>
              </a:rPr>
              <a:t>Covered clinician FTE the payroll paid at each entity, July to September 2026 (HCM pay lines)</a:t>
            </a:r>
          </a:p>
        </p:txBody>
      </p:sp>
      <p:sp>
        <p:nvSpPr>
          <p:cNvPr id="4" name="TextBox 3"/>
          <p:cNvSpPr txBox="1"/>
          <p:nvPr/>
        </p:nvSpPr>
        <p:spPr>
          <a:xfrm>
            <a:off x="576000" y="6443999"/>
            <a:ext cx="11016000" cy="251999"/>
          </a:xfrm>
          <a:prstGeom prst="rect">
            <a:avLst/>
          </a:prstGeom>
          <a:noFill/>
        </p:spPr>
        <p:txBody>
          <a:bodyPr wrap="square">
            <a:spAutoFit/>
          </a:bodyPr>
          <a:lstStyle/>
          <a:p>
            <a:r>
              <a:rPr sz="900" b="0">
                <a:solidFill>
                  <a:srgbClr val="5A6672"/>
                </a:solidFill>
              </a:rPr>
              <a:t>Corvane Health, Risk Management and Insurance  |  Trustees of the Corvane Professional Liability Trust, 10 November 2026  |  2</a:t>
            </a:r>
          </a:p>
        </p:txBody>
      </p:sp>
      <p:pic>
        <p:nvPicPr>
          <p:cNvPr id="5" name="Picture 4" descr="image.png"/>
          <p:cNvPicPr>
            <a:picLocks noChangeAspect="1"/>
          </p:cNvPicPr>
          <p:nvPr/>
        </p:nvPicPr>
        <p:blipFill>
          <a:blip r:embed="rId2"/>
          <a:stretch>
            <a:fillRect/>
          </a:stretch>
        </p:blipFill>
        <p:spPr>
          <a:xfrm>
            <a:off x="936000" y="1260000"/>
            <a:ext cx="9936000" cy="4761000"/>
          </a:xfrm>
          <a:prstGeom prst="rect">
            <a:avLst/>
          </a:prstGeom>
        </p:spPr>
      </p:pic>
      <p:sp>
        <p:nvSpPr>
          <p:cNvPr id="6" name="TextBox 5"/>
          <p:cNvSpPr txBox="1"/>
          <p:nvPr/>
        </p:nvSpPr>
        <p:spPr>
          <a:xfrm>
            <a:off x="576000" y="6083999"/>
            <a:ext cx="11016000" cy="288000"/>
          </a:xfrm>
          <a:prstGeom prst="rect">
            <a:avLst/>
          </a:prstGeom>
          <a:noFill/>
        </p:spPr>
        <p:txBody>
          <a:bodyPr wrap="square">
            <a:spAutoFit/>
          </a:bodyPr>
          <a:lstStyle/>
          <a:p>
            <a:r>
              <a:rPr sz="900" b="0">
                <a:solidFill>
                  <a:srgbClr val="5A6672"/>
                </a:solidFill>
              </a:rPr>
              <a:t>Source: HCM clinician pay lines run 2 October 2026; hours paid over 173.33 a month at 1.0 FTE, residents' and fellows' additional positions left out, entity of the cost centre charged.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Trust contribution 2027</dc:title>
  <dc:creator>Nancy Holland</dc:creator>
  <cp:lastModifiedBy>Nancy Holland</cp:lastModifiedBy>
  <dcterms:created xsi:type="dcterms:W3CDTF">2026-10-13T16:22:05Z</dcterms:created>
  <dcterms:modified xsi:type="dcterms:W3CDTF">2026-10-14T01:10:47Z</dcterms:modified>
</cp:coreProperties>
</file>