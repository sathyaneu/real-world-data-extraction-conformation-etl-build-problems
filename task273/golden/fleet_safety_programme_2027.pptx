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2103120"/>
            <a:ext cx="10607040" cy="1280160"/>
          </a:xfrm>
          <a:prstGeom prst="rect">
            <a:avLst/>
          </a:prstGeom>
          <a:noFill/>
        </p:spPr>
        <p:txBody>
          <a:bodyPr wrap="square">
            <a:spAutoFit/>
          </a:bodyPr>
          <a:lstStyle/>
          <a:p>
            <a:pPr>
              <a:spcAft>
                <a:spcPts val="800"/>
              </a:spcAft>
              <a:defRPr sz="3400" b="1">
                <a:solidFill>
                  <a:srgbClr val="1F4D3A"/>
                </a:solidFill>
                <a:latin typeface="Calibri"/>
              </a:defRPr>
            </a:pPr>
            <a:r>
              <a:t>Four of the seven commercial uses meet the coverage test</a:t>
            </a:r>
          </a:p>
        </p:txBody>
      </p:sp>
      <p:sp>
        <p:nvSpPr>
          <p:cNvPr id="3" name="TextBox 2"/>
          <p:cNvSpPr txBox="1"/>
          <p:nvPr/>
        </p:nvSpPr>
        <p:spPr>
          <a:xfrm>
            <a:off x="731520" y="3429000"/>
            <a:ext cx="10607040" cy="1463040"/>
          </a:xfrm>
          <a:prstGeom prst="rect">
            <a:avLst/>
          </a:prstGeom>
          <a:noFill/>
        </p:spPr>
        <p:txBody>
          <a:bodyPr wrap="square">
            <a:spAutoFit/>
          </a:bodyPr>
          <a:lstStyle/>
          <a:p>
            <a:pPr>
              <a:spcAft>
                <a:spcPts val="800"/>
              </a:spcAft>
              <a:defRPr sz="1600" b="0">
                <a:solidFill>
                  <a:srgbClr val="52514E"/>
                </a:solidFill>
                <a:latin typeface="Calibri"/>
              </a:defRPr>
            </a:pPr>
            <a:r>
              <a:t>Commercial Fleet Safety Programme: the uses covered from 1 July 2027</a:t>
            </a:r>
          </a:p>
          <a:p>
            <a:pPr>
              <a:spcAft>
                <a:spcPts val="800"/>
              </a:spcAft>
              <a:defRPr sz="1600" b="0">
                <a:solidFill>
                  <a:srgbClr val="52514E"/>
                </a:solidFill>
                <a:latin typeface="Calibri"/>
              </a:defRPr>
            </a:pPr>
            <a:r>
              <a:t>Briefing ahead of the notice to operators, due by 15 January 2027</a:t>
            </a:r>
          </a:p>
          <a:p>
            <a:pPr>
              <a:spcAft>
                <a:spcPts val="800"/>
              </a:spcAft>
              <a:defRPr sz="1600" b="0">
                <a:solidFill>
                  <a:srgbClr val="52514E"/>
                </a:solidFill>
                <a:latin typeface="Calibri"/>
              </a:defRPr>
            </a:pPr>
            <a:r>
              <a:t>Thomas Moyer, Policy Adviser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spcAft>
                <a:spcPts val="800"/>
              </a:spcAft>
              <a:defRPr sz="2200" b="1">
                <a:solidFill>
                  <a:srgbClr val="0B0B0B"/>
                </a:solidFill>
                <a:latin typeface="Calibri"/>
              </a:defRPr>
            </a:pPr>
            <a:r>
              <a:t>Taxicabs, ride-hail, parcel delivery and app-based delivery cause crashes at 1.5 times private drivers' rate per mile or more</a:t>
            </a:r>
          </a:p>
        </p:txBody>
      </p:sp>
      <p:pic>
        <p:nvPicPr>
          <p:cNvPr id="3" name="Picture 2" descr="image.png"/>
          <p:cNvPicPr>
            <a:picLocks noChangeAspect="1"/>
          </p:cNvPicPr>
          <p:nvPr/>
        </p:nvPicPr>
        <p:blipFill>
          <a:blip r:embed="rId2"/>
          <a:stretch>
            <a:fillRect/>
          </a:stretch>
        </p:blipFill>
        <p:spPr>
          <a:xfrm>
            <a:off x="1325880" y="1280160"/>
            <a:ext cx="9509760" cy="4853940"/>
          </a:xfrm>
          <a:prstGeom prst="rect">
            <a:avLst/>
          </a:prstGeom>
        </p:spPr>
      </p:pic>
      <p:sp>
        <p:nvSpPr>
          <p:cNvPr id="4" name="TextBox 3"/>
          <p:cNvSpPr txBox="1"/>
          <p:nvPr/>
        </p:nvSpPr>
        <p:spPr>
          <a:xfrm>
            <a:off x="548640" y="6400800"/>
            <a:ext cx="10058400" cy="320040"/>
          </a:xfrm>
          <a:prstGeom prst="rect">
            <a:avLst/>
          </a:prstGeom>
          <a:noFill/>
        </p:spPr>
        <p:txBody>
          <a:bodyPr wrap="square">
            <a:spAutoFit/>
          </a:bodyPr>
          <a:lstStyle/>
          <a:p>
            <a:pPr>
              <a:spcAft>
                <a:spcPts val="800"/>
              </a:spcAft>
              <a:defRPr sz="900" b="0">
                <a:solidFill>
                  <a:srgbClr val="52514E"/>
                </a:solidFill>
                <a:latin typeface="Calibri"/>
              </a:defRPr>
            </a:pPr>
            <a:r>
              <a:t>Crashes between moving vehicles, 2021 to 2025 (state crash records extract); miles by road class, day type and hour (Department of Transportation).</a:t>
            </a:r>
          </a:p>
        </p:txBody>
      </p:sp>
      <p:sp>
        <p:nvSpPr>
          <p:cNvPr id="5" name="TextBox 4"/>
          <p:cNvSpPr txBox="1"/>
          <p:nvPr/>
        </p:nvSpPr>
        <p:spPr>
          <a:xfrm>
            <a:off x="11247120" y="6400800"/>
            <a:ext cx="548640" cy="320040"/>
          </a:xfrm>
          <a:prstGeom prst="rect">
            <a:avLst/>
          </a:prstGeom>
          <a:noFill/>
        </p:spPr>
        <p:txBody>
          <a:bodyPr wrap="square">
            <a:spAutoFit/>
          </a:bodyPr>
          <a:lstStyle/>
          <a:p>
            <a:pPr>
              <a:spcAft>
                <a:spcPts val="800"/>
              </a:spcAft>
              <a:defRPr sz="900" b="0">
                <a:solidFill>
                  <a:srgbClr val="52514E"/>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spcAft>
                <a:spcPts val="800"/>
              </a:spcAft>
              <a:defRPr sz="2200" b="1">
                <a:solidFill>
                  <a:srgbClr val="0B0B0B"/>
                </a:solidFill>
                <a:latin typeface="Calibri"/>
              </a:defRPr>
            </a:pPr>
            <a:r>
              <a:t>No record counts the miles each use drives, so the crash reports measure them</a:t>
            </a:r>
          </a:p>
        </p:txBody>
      </p:sp>
      <p:sp>
        <p:nvSpPr>
          <p:cNvPr id="3" name="TextBox 2"/>
          <p:cNvSpPr txBox="1"/>
          <p:nvPr/>
        </p:nvSpPr>
        <p:spPr>
          <a:xfrm>
            <a:off x="548640" y="1371600"/>
            <a:ext cx="5212080" cy="4754880"/>
          </a:xfrm>
          <a:prstGeom prst="rect">
            <a:avLst/>
          </a:prstGeom>
          <a:noFill/>
        </p:spPr>
        <p:txBody>
          <a:bodyPr wrap="square">
            <a:spAutoFit/>
          </a:bodyPr>
          <a:lstStyle/>
          <a:p>
            <a:pPr>
              <a:spcAft>
                <a:spcPts val="800"/>
              </a:spcAft>
              <a:defRPr sz="1400" b="0">
                <a:solidFill>
                  <a:srgbClr val="0B0B0B"/>
                </a:solidFill>
                <a:latin typeface="Calibri"/>
              </a:defRPr>
            </a:pPr>
            <a:r>
              <a:t>A vehicle struck by an at-fault driver is a draw from the traffic around it, so a use's share of the vehicles struck on a class of road in a given hour is its share of the miles driven there.</a:t>
            </a:r>
          </a:p>
          <a:p>
            <a:pPr>
              <a:spcAft>
                <a:spcPts val="800"/>
              </a:spcAft>
              <a:defRPr sz="1400" b="0">
                <a:solidFill>
                  <a:srgbClr val="0B0B0B"/>
                </a:solidFill>
                <a:latin typeface="Calibri"/>
              </a:defRPr>
            </a:pPr>
            <a:r>
              <a:t>Crashes per mile are far from even: they run highest on urban arterials at night, so the struck vehicles over-represent the uses that work those streets and hours.</a:t>
            </a:r>
          </a:p>
          <a:p>
            <a:pPr>
              <a:spcAft>
                <a:spcPts val="800"/>
              </a:spcAft>
              <a:defRPr sz="1400" b="0">
                <a:solidFill>
                  <a:srgbClr val="0B0B0B"/>
                </a:solidFill>
                <a:latin typeface="Calibri"/>
              </a:defRPr>
            </a:pPr>
            <a:r>
              <a:t>The Department's miles for each road class, day type and hour are shared out by the vehicles struck there, and each use's shares add up to its miles.</a:t>
            </a:r>
          </a:p>
          <a:p>
            <a:pPr>
              <a:spcAft>
                <a:spcPts val="800"/>
              </a:spcAft>
              <a:defRPr sz="1400" b="0">
                <a:solidFill>
                  <a:srgbClr val="0B0B0B"/>
                </a:solidFill>
                <a:latin typeface="Calibri"/>
              </a:defRPr>
            </a:pPr>
            <a:r>
              <a:t>Closest to the line: Parcel delivery at 1.7 times private drivers' rate, covered; paratransit, airport shuttles and limousines all under 1.3, not covered.</a:t>
            </a:r>
          </a:p>
        </p:txBody>
      </p:sp>
      <p:graphicFrame>
        <p:nvGraphicFramePr>
          <p:cNvPr id="4" name="Table 3"/>
          <p:cNvGraphicFramePr>
            <a:graphicFrameLocks noGrp="1"/>
          </p:cNvGraphicFramePr>
          <p:nvPr/>
        </p:nvGraphicFramePr>
        <p:xfrm>
          <a:off x="5989320" y="1417320"/>
          <a:ext cx="5760720" cy="3127248"/>
        </p:xfrm>
        <a:graphic>
          <a:graphicData uri="http://schemas.openxmlformats.org/drawingml/2006/table">
            <a:tbl>
              <a:tblPr firstRow="1" bandRow="1">
                <a:tableStyleId>{5C22544A-7EE6-4342-B048-85BDC9FD1C3A}</a:tableStyleId>
              </a:tblPr>
              <a:tblGrid>
                <a:gridCol w="1600200"/>
                <a:gridCol w="1051560"/>
                <a:gridCol w="1051560"/>
                <a:gridCol w="1143000"/>
                <a:gridCol w="914400"/>
              </a:tblGrid>
              <a:tr h="347472">
                <a:tc>
                  <a:txBody>
                    <a:bodyPr/>
                    <a:lstStyle/>
                    <a:p>
                      <a:pPr>
                        <a:defRPr sz="1100" b="1">
                          <a:solidFill>
                            <a:srgbClr val="FFFFFF"/>
                          </a:solidFill>
                          <a:latin typeface="Calibri"/>
                        </a:defRPr>
                      </a:pPr>
                      <a:r>
                        <a:t>Use</a:t>
                      </a:r>
                    </a:p>
                  </a:txBody>
                  <a:tcPr>
                    <a:solidFill>
                      <a:srgbClr val="1F4D3A"/>
                    </a:solidFill>
                  </a:tcPr>
                </a:tc>
                <a:tc>
                  <a:txBody>
                    <a:bodyPr/>
                    <a:lstStyle/>
                    <a:p>
                      <a:pPr algn="r">
                        <a:defRPr sz="1100" b="1">
                          <a:solidFill>
                            <a:srgbClr val="FFFFFF"/>
                          </a:solidFill>
                          <a:latin typeface="Calibri"/>
                        </a:defRPr>
                      </a:pPr>
                      <a:r>
                        <a:t>Crashes caused</a:t>
                      </a:r>
                    </a:p>
                  </a:txBody>
                  <a:tcPr>
                    <a:solidFill>
                      <a:srgbClr val="1F4D3A"/>
                    </a:solidFill>
                  </a:tcPr>
                </a:tc>
                <a:tc>
                  <a:txBody>
                    <a:bodyPr/>
                    <a:lstStyle/>
                    <a:p>
                      <a:pPr algn="r">
                        <a:defRPr sz="1100" b="1">
                          <a:solidFill>
                            <a:srgbClr val="FFFFFF"/>
                          </a:solidFill>
                          <a:latin typeface="Calibri"/>
                        </a:defRPr>
                      </a:pPr>
                      <a:r>
                        <a:t>Miles (millions)</a:t>
                      </a:r>
                    </a:p>
                  </a:txBody>
                  <a:tcPr>
                    <a:solidFill>
                      <a:srgbClr val="1F4D3A"/>
                    </a:solidFill>
                  </a:tcPr>
                </a:tc>
                <a:tc>
                  <a:txBody>
                    <a:bodyPr/>
                    <a:lstStyle/>
                    <a:p>
                      <a:pPr algn="r">
                        <a:defRPr sz="1100" b="1">
                          <a:solidFill>
                            <a:srgbClr val="FFFFFF"/>
                          </a:solidFill>
                          <a:latin typeface="Calibri"/>
                        </a:defRPr>
                      </a:pPr>
                      <a:r>
                        <a:t>Per 100 million miles</a:t>
                      </a:r>
                    </a:p>
                  </a:txBody>
                  <a:tcPr>
                    <a:solidFill>
                      <a:srgbClr val="1F4D3A"/>
                    </a:solidFill>
                  </a:tcPr>
                </a:tc>
                <a:tc>
                  <a:txBody>
                    <a:bodyPr/>
                    <a:lstStyle/>
                    <a:p>
                      <a:pPr algn="r">
                        <a:defRPr sz="1100" b="1">
                          <a:solidFill>
                            <a:srgbClr val="FFFFFF"/>
                          </a:solidFill>
                          <a:latin typeface="Calibri"/>
                        </a:defRPr>
                      </a:pPr>
                      <a:r>
                        <a:t>Against private</a:t>
                      </a:r>
                    </a:p>
                  </a:txBody>
                  <a:tcPr>
                    <a:solidFill>
                      <a:srgbClr val="1F4D3A"/>
                    </a:solidFill>
                  </a:tcPr>
                </a:tc>
              </a:tr>
              <a:tr h="347472">
                <a:tc>
                  <a:txBody>
                    <a:bodyPr/>
                    <a:lstStyle/>
                    <a:p>
                      <a:pPr>
                        <a:defRPr sz="1100" b="0">
                          <a:solidFill>
                            <a:srgbClr val="0B0B0B"/>
                          </a:solidFill>
                          <a:latin typeface="Calibri"/>
                        </a:defRPr>
                      </a:pPr>
                      <a:r>
                        <a:t>Ride-hail</a:t>
                      </a:r>
                    </a:p>
                  </a:txBody>
                  <a:tcPr>
                    <a:solidFill>
                      <a:srgbClr val="FFFFFF"/>
                    </a:solidFill>
                  </a:tcPr>
                </a:tc>
                <a:tc>
                  <a:txBody>
                    <a:bodyPr/>
                    <a:lstStyle/>
                    <a:p>
                      <a:pPr algn="r">
                        <a:defRPr sz="1100" b="0">
                          <a:solidFill>
                            <a:srgbClr val="0B0B0B"/>
                          </a:solidFill>
                          <a:latin typeface="Calibri"/>
                        </a:defRPr>
                      </a:pPr>
                      <a:r>
                        <a:t>6,762</a:t>
                      </a:r>
                    </a:p>
                  </a:txBody>
                  <a:tcPr>
                    <a:solidFill>
                      <a:srgbClr val="FFFFFF"/>
                    </a:solidFill>
                  </a:tcPr>
                </a:tc>
                <a:tc>
                  <a:txBody>
                    <a:bodyPr/>
                    <a:lstStyle/>
                    <a:p>
                      <a:pPr algn="r">
                        <a:defRPr sz="1100" b="0">
                          <a:solidFill>
                            <a:srgbClr val="0B0B0B"/>
                          </a:solidFill>
                          <a:latin typeface="Calibri"/>
                        </a:defRPr>
                      </a:pPr>
                      <a:r>
                        <a:t>1,787</a:t>
                      </a:r>
                    </a:p>
                  </a:txBody>
                  <a:tcPr>
                    <a:solidFill>
                      <a:srgbClr val="FFFFFF"/>
                    </a:solidFill>
                  </a:tcPr>
                </a:tc>
                <a:tc>
                  <a:txBody>
                    <a:bodyPr/>
                    <a:lstStyle/>
                    <a:p>
                      <a:pPr algn="r">
                        <a:defRPr sz="1100" b="0">
                          <a:solidFill>
                            <a:srgbClr val="0B0B0B"/>
                          </a:solidFill>
                          <a:latin typeface="Calibri"/>
                        </a:defRPr>
                      </a:pPr>
                      <a:r>
                        <a:t>378.3</a:t>
                      </a:r>
                    </a:p>
                  </a:txBody>
                  <a:tcPr>
                    <a:solidFill>
                      <a:srgbClr val="FFFFFF"/>
                    </a:solidFill>
                  </a:tcPr>
                </a:tc>
                <a:tc>
                  <a:txBody>
                    <a:bodyPr/>
                    <a:lstStyle/>
                    <a:p>
                      <a:pPr algn="r">
                        <a:defRPr sz="1100" b="0">
                          <a:solidFill>
                            <a:srgbClr val="0B0B0B"/>
                          </a:solidFill>
                          <a:latin typeface="Calibri"/>
                        </a:defRPr>
                      </a:pPr>
                      <a:r>
                        <a:t>2.1</a:t>
                      </a:r>
                    </a:p>
                  </a:txBody>
                  <a:tcPr>
                    <a:solidFill>
                      <a:srgbClr val="FFFFFF"/>
                    </a:solidFill>
                  </a:tcPr>
                </a:tc>
              </a:tr>
              <a:tr h="347472">
                <a:tc>
                  <a:txBody>
                    <a:bodyPr/>
                    <a:lstStyle/>
                    <a:p>
                      <a:pPr>
                        <a:defRPr sz="1100" b="0">
                          <a:solidFill>
                            <a:srgbClr val="0B0B0B"/>
                          </a:solidFill>
                          <a:latin typeface="Calibri"/>
                        </a:defRPr>
                      </a:pPr>
                      <a:r>
                        <a:t>App delivery</a:t>
                      </a:r>
                    </a:p>
                  </a:txBody>
                  <a:tcPr>
                    <a:solidFill>
                      <a:srgbClr val="F4F3EF"/>
                    </a:solidFill>
                  </a:tcPr>
                </a:tc>
                <a:tc>
                  <a:txBody>
                    <a:bodyPr/>
                    <a:lstStyle/>
                    <a:p>
                      <a:pPr algn="r">
                        <a:defRPr sz="1100" b="0">
                          <a:solidFill>
                            <a:srgbClr val="0B0B0B"/>
                          </a:solidFill>
                          <a:latin typeface="Calibri"/>
                        </a:defRPr>
                      </a:pPr>
                      <a:r>
                        <a:t>3,282</a:t>
                      </a:r>
                    </a:p>
                  </a:txBody>
                  <a:tcPr>
                    <a:solidFill>
                      <a:srgbClr val="F4F3EF"/>
                    </a:solidFill>
                  </a:tcPr>
                </a:tc>
                <a:tc>
                  <a:txBody>
                    <a:bodyPr/>
                    <a:lstStyle/>
                    <a:p>
                      <a:pPr algn="r">
                        <a:defRPr sz="1100" b="0">
                          <a:solidFill>
                            <a:srgbClr val="0B0B0B"/>
                          </a:solidFill>
                          <a:latin typeface="Calibri"/>
                        </a:defRPr>
                      </a:pPr>
                      <a:r>
                        <a:t>905</a:t>
                      </a:r>
                    </a:p>
                  </a:txBody>
                  <a:tcPr>
                    <a:solidFill>
                      <a:srgbClr val="F4F3EF"/>
                    </a:solidFill>
                  </a:tcPr>
                </a:tc>
                <a:tc>
                  <a:txBody>
                    <a:bodyPr/>
                    <a:lstStyle/>
                    <a:p>
                      <a:pPr algn="r">
                        <a:defRPr sz="1100" b="0">
                          <a:solidFill>
                            <a:srgbClr val="0B0B0B"/>
                          </a:solidFill>
                          <a:latin typeface="Calibri"/>
                        </a:defRPr>
                      </a:pPr>
                      <a:r>
                        <a:t>362.6</a:t>
                      </a:r>
                    </a:p>
                  </a:txBody>
                  <a:tcPr>
                    <a:solidFill>
                      <a:srgbClr val="F4F3EF"/>
                    </a:solidFill>
                  </a:tcPr>
                </a:tc>
                <a:tc>
                  <a:txBody>
                    <a:bodyPr/>
                    <a:lstStyle/>
                    <a:p>
                      <a:pPr algn="r">
                        <a:defRPr sz="1100" b="0">
                          <a:solidFill>
                            <a:srgbClr val="0B0B0B"/>
                          </a:solidFill>
                          <a:latin typeface="Calibri"/>
                        </a:defRPr>
                      </a:pPr>
                      <a:r>
                        <a:t>2.0</a:t>
                      </a:r>
                    </a:p>
                  </a:txBody>
                  <a:tcPr>
                    <a:solidFill>
                      <a:srgbClr val="F4F3EF"/>
                    </a:solidFill>
                  </a:tcPr>
                </a:tc>
              </a:tr>
              <a:tr h="347472">
                <a:tc>
                  <a:txBody>
                    <a:bodyPr/>
                    <a:lstStyle/>
                    <a:p>
                      <a:pPr>
                        <a:defRPr sz="1100" b="0">
                          <a:solidFill>
                            <a:srgbClr val="0B0B0B"/>
                          </a:solidFill>
                          <a:latin typeface="Calibri"/>
                        </a:defRPr>
                      </a:pPr>
                      <a:r>
                        <a:t>Taxi</a:t>
                      </a:r>
                    </a:p>
                  </a:txBody>
                  <a:tcPr>
                    <a:solidFill>
                      <a:srgbClr val="FFFFFF"/>
                    </a:solidFill>
                  </a:tcPr>
                </a:tc>
                <a:tc>
                  <a:txBody>
                    <a:bodyPr/>
                    <a:lstStyle/>
                    <a:p>
                      <a:pPr algn="r">
                        <a:defRPr sz="1100" b="0">
                          <a:solidFill>
                            <a:srgbClr val="0B0B0B"/>
                          </a:solidFill>
                          <a:latin typeface="Calibri"/>
                        </a:defRPr>
                      </a:pPr>
                      <a:r>
                        <a:t>1,564</a:t>
                      </a:r>
                    </a:p>
                  </a:txBody>
                  <a:tcPr>
                    <a:solidFill>
                      <a:srgbClr val="FFFFFF"/>
                    </a:solidFill>
                  </a:tcPr>
                </a:tc>
                <a:tc>
                  <a:txBody>
                    <a:bodyPr/>
                    <a:lstStyle/>
                    <a:p>
                      <a:pPr algn="r">
                        <a:defRPr sz="1100" b="0">
                          <a:solidFill>
                            <a:srgbClr val="0B0B0B"/>
                          </a:solidFill>
                          <a:latin typeface="Calibri"/>
                        </a:defRPr>
                      </a:pPr>
                      <a:r>
                        <a:t>448</a:t>
                      </a:r>
                    </a:p>
                  </a:txBody>
                  <a:tcPr>
                    <a:solidFill>
                      <a:srgbClr val="FFFFFF"/>
                    </a:solidFill>
                  </a:tcPr>
                </a:tc>
                <a:tc>
                  <a:txBody>
                    <a:bodyPr/>
                    <a:lstStyle/>
                    <a:p>
                      <a:pPr algn="r">
                        <a:defRPr sz="1100" b="0">
                          <a:solidFill>
                            <a:srgbClr val="0B0B0B"/>
                          </a:solidFill>
                          <a:latin typeface="Calibri"/>
                        </a:defRPr>
                      </a:pPr>
                      <a:r>
                        <a:t>348.8</a:t>
                      </a:r>
                    </a:p>
                  </a:txBody>
                  <a:tcPr>
                    <a:solidFill>
                      <a:srgbClr val="FFFFFF"/>
                    </a:solidFill>
                  </a:tcPr>
                </a:tc>
                <a:tc>
                  <a:txBody>
                    <a:bodyPr/>
                    <a:lstStyle/>
                    <a:p>
                      <a:pPr algn="r">
                        <a:defRPr sz="1100" b="0">
                          <a:solidFill>
                            <a:srgbClr val="0B0B0B"/>
                          </a:solidFill>
                          <a:latin typeface="Calibri"/>
                        </a:defRPr>
                      </a:pPr>
                      <a:r>
                        <a:t>1.9</a:t>
                      </a:r>
                    </a:p>
                  </a:txBody>
                  <a:tcPr>
                    <a:solidFill>
                      <a:srgbClr val="FFFFFF"/>
                    </a:solidFill>
                  </a:tcPr>
                </a:tc>
              </a:tr>
              <a:tr h="347472">
                <a:tc>
                  <a:txBody>
                    <a:bodyPr/>
                    <a:lstStyle/>
                    <a:p>
                      <a:pPr>
                        <a:defRPr sz="1100" b="0">
                          <a:solidFill>
                            <a:srgbClr val="0B0B0B"/>
                          </a:solidFill>
                          <a:latin typeface="Calibri"/>
                        </a:defRPr>
                      </a:pPr>
                      <a:r>
                        <a:t>Parcel delivery</a:t>
                      </a:r>
                    </a:p>
                  </a:txBody>
                  <a:tcPr>
                    <a:solidFill>
                      <a:srgbClr val="F4F3EF"/>
                    </a:solidFill>
                  </a:tcPr>
                </a:tc>
                <a:tc>
                  <a:txBody>
                    <a:bodyPr/>
                    <a:lstStyle/>
                    <a:p>
                      <a:pPr algn="r">
                        <a:defRPr sz="1100" b="0">
                          <a:solidFill>
                            <a:srgbClr val="0B0B0B"/>
                          </a:solidFill>
                          <a:latin typeface="Calibri"/>
                        </a:defRPr>
                      </a:pPr>
                      <a:r>
                        <a:t>3,317</a:t>
                      </a:r>
                    </a:p>
                  </a:txBody>
                  <a:tcPr>
                    <a:solidFill>
                      <a:srgbClr val="F4F3EF"/>
                    </a:solidFill>
                  </a:tcPr>
                </a:tc>
                <a:tc>
                  <a:txBody>
                    <a:bodyPr/>
                    <a:lstStyle/>
                    <a:p>
                      <a:pPr algn="r">
                        <a:defRPr sz="1100" b="0">
                          <a:solidFill>
                            <a:srgbClr val="0B0B0B"/>
                          </a:solidFill>
                          <a:latin typeface="Calibri"/>
                        </a:defRPr>
                      </a:pPr>
                      <a:r>
                        <a:t>1,050</a:t>
                      </a:r>
                    </a:p>
                  </a:txBody>
                  <a:tcPr>
                    <a:solidFill>
                      <a:srgbClr val="F4F3EF"/>
                    </a:solidFill>
                  </a:tcPr>
                </a:tc>
                <a:tc>
                  <a:txBody>
                    <a:bodyPr/>
                    <a:lstStyle/>
                    <a:p>
                      <a:pPr algn="r">
                        <a:defRPr sz="1100" b="0">
                          <a:solidFill>
                            <a:srgbClr val="0B0B0B"/>
                          </a:solidFill>
                          <a:latin typeface="Calibri"/>
                        </a:defRPr>
                      </a:pPr>
                      <a:r>
                        <a:t>315.8</a:t>
                      </a:r>
                    </a:p>
                  </a:txBody>
                  <a:tcPr>
                    <a:solidFill>
                      <a:srgbClr val="F4F3EF"/>
                    </a:solidFill>
                  </a:tcPr>
                </a:tc>
                <a:tc>
                  <a:txBody>
                    <a:bodyPr/>
                    <a:lstStyle/>
                    <a:p>
                      <a:pPr algn="r">
                        <a:defRPr sz="1100" b="0">
                          <a:solidFill>
                            <a:srgbClr val="0B0B0B"/>
                          </a:solidFill>
                          <a:latin typeface="Calibri"/>
                        </a:defRPr>
                      </a:pPr>
                      <a:r>
                        <a:t>1.7</a:t>
                      </a:r>
                    </a:p>
                  </a:txBody>
                  <a:tcPr>
                    <a:solidFill>
                      <a:srgbClr val="F4F3EF"/>
                    </a:solidFill>
                  </a:tcPr>
                </a:tc>
              </a:tr>
              <a:tr h="347472">
                <a:tc>
                  <a:txBody>
                    <a:bodyPr/>
                    <a:lstStyle/>
                    <a:p>
                      <a:pPr>
                        <a:defRPr sz="1100" b="0">
                          <a:solidFill>
                            <a:srgbClr val="0B0B0B"/>
                          </a:solidFill>
                          <a:latin typeface="Calibri"/>
                        </a:defRPr>
                      </a:pPr>
                      <a:r>
                        <a:t>Paratransit</a:t>
                      </a:r>
                    </a:p>
                  </a:txBody>
                  <a:tcPr>
                    <a:solidFill>
                      <a:srgbClr val="FFFFFF"/>
                    </a:solidFill>
                  </a:tcPr>
                </a:tc>
                <a:tc>
                  <a:txBody>
                    <a:bodyPr/>
                    <a:lstStyle/>
                    <a:p>
                      <a:pPr algn="r">
                        <a:defRPr sz="1100" b="0">
                          <a:solidFill>
                            <a:srgbClr val="0B0B0B"/>
                          </a:solidFill>
                          <a:latin typeface="Calibri"/>
                        </a:defRPr>
                      </a:pPr>
                      <a:r>
                        <a:t>865</a:t>
                      </a:r>
                    </a:p>
                  </a:txBody>
                  <a:tcPr>
                    <a:solidFill>
                      <a:srgbClr val="FFFFFF"/>
                    </a:solidFill>
                  </a:tcPr>
                </a:tc>
                <a:tc>
                  <a:txBody>
                    <a:bodyPr/>
                    <a:lstStyle/>
                    <a:p>
                      <a:pPr algn="r">
                        <a:defRPr sz="1100" b="0">
                          <a:solidFill>
                            <a:srgbClr val="0B0B0B"/>
                          </a:solidFill>
                          <a:latin typeface="Calibri"/>
                        </a:defRPr>
                      </a:pPr>
                      <a:r>
                        <a:t>389</a:t>
                      </a:r>
                    </a:p>
                  </a:txBody>
                  <a:tcPr>
                    <a:solidFill>
                      <a:srgbClr val="FFFFFF"/>
                    </a:solidFill>
                  </a:tcPr>
                </a:tc>
                <a:tc>
                  <a:txBody>
                    <a:bodyPr/>
                    <a:lstStyle/>
                    <a:p>
                      <a:pPr algn="r">
                        <a:defRPr sz="1100" b="0">
                          <a:solidFill>
                            <a:srgbClr val="0B0B0B"/>
                          </a:solidFill>
                          <a:latin typeface="Calibri"/>
                        </a:defRPr>
                      </a:pPr>
                      <a:r>
                        <a:t>222.4</a:t>
                      </a:r>
                    </a:p>
                  </a:txBody>
                  <a:tcPr>
                    <a:solidFill>
                      <a:srgbClr val="FFFFFF"/>
                    </a:solidFill>
                  </a:tcPr>
                </a:tc>
                <a:tc>
                  <a:txBody>
                    <a:bodyPr/>
                    <a:lstStyle/>
                    <a:p>
                      <a:pPr algn="r">
                        <a:defRPr sz="1100" b="0">
                          <a:solidFill>
                            <a:srgbClr val="0B0B0B"/>
                          </a:solidFill>
                          <a:latin typeface="Calibri"/>
                        </a:defRPr>
                      </a:pPr>
                      <a:r>
                        <a:t>1.2</a:t>
                      </a:r>
                    </a:p>
                  </a:txBody>
                  <a:tcPr>
                    <a:solidFill>
                      <a:srgbClr val="FFFFFF"/>
                    </a:solidFill>
                  </a:tcPr>
                </a:tc>
              </a:tr>
              <a:tr h="347472">
                <a:tc>
                  <a:txBody>
                    <a:bodyPr/>
                    <a:lstStyle/>
                    <a:p>
                      <a:pPr>
                        <a:defRPr sz="1100" b="0">
                          <a:solidFill>
                            <a:srgbClr val="0B0B0B"/>
                          </a:solidFill>
                          <a:latin typeface="Calibri"/>
                        </a:defRPr>
                      </a:pPr>
                      <a:r>
                        <a:t>Airport shuttle</a:t>
                      </a:r>
                    </a:p>
                  </a:txBody>
                  <a:tcPr>
                    <a:solidFill>
                      <a:srgbClr val="F4F3EF"/>
                    </a:solidFill>
                  </a:tcPr>
                </a:tc>
                <a:tc>
                  <a:txBody>
                    <a:bodyPr/>
                    <a:lstStyle/>
                    <a:p>
                      <a:pPr algn="r">
                        <a:defRPr sz="1100" b="0">
                          <a:solidFill>
                            <a:srgbClr val="0B0B0B"/>
                          </a:solidFill>
                          <a:latin typeface="Calibri"/>
                        </a:defRPr>
                      </a:pPr>
                      <a:r>
                        <a:t>648</a:t>
                      </a:r>
                    </a:p>
                  </a:txBody>
                  <a:tcPr>
                    <a:solidFill>
                      <a:srgbClr val="F4F3EF"/>
                    </a:solidFill>
                  </a:tcPr>
                </a:tc>
                <a:tc>
                  <a:txBody>
                    <a:bodyPr/>
                    <a:lstStyle/>
                    <a:p>
                      <a:pPr algn="r">
                        <a:defRPr sz="1100" b="0">
                          <a:solidFill>
                            <a:srgbClr val="0B0B0B"/>
                          </a:solidFill>
                          <a:latin typeface="Calibri"/>
                        </a:defRPr>
                      </a:pPr>
                      <a:r>
                        <a:t>292</a:t>
                      </a:r>
                    </a:p>
                  </a:txBody>
                  <a:tcPr>
                    <a:solidFill>
                      <a:srgbClr val="F4F3EF"/>
                    </a:solidFill>
                  </a:tcPr>
                </a:tc>
                <a:tc>
                  <a:txBody>
                    <a:bodyPr/>
                    <a:lstStyle/>
                    <a:p>
                      <a:pPr algn="r">
                        <a:defRPr sz="1100" b="0">
                          <a:solidFill>
                            <a:srgbClr val="0B0B0B"/>
                          </a:solidFill>
                          <a:latin typeface="Calibri"/>
                        </a:defRPr>
                      </a:pPr>
                      <a:r>
                        <a:t>222.1</a:t>
                      </a:r>
                    </a:p>
                  </a:txBody>
                  <a:tcPr>
                    <a:solidFill>
                      <a:srgbClr val="F4F3EF"/>
                    </a:solidFill>
                  </a:tcPr>
                </a:tc>
                <a:tc>
                  <a:txBody>
                    <a:bodyPr/>
                    <a:lstStyle/>
                    <a:p>
                      <a:pPr algn="r">
                        <a:defRPr sz="1100" b="0">
                          <a:solidFill>
                            <a:srgbClr val="0B0B0B"/>
                          </a:solidFill>
                          <a:latin typeface="Calibri"/>
                        </a:defRPr>
                      </a:pPr>
                      <a:r>
                        <a:t>1.2</a:t>
                      </a:r>
                    </a:p>
                  </a:txBody>
                  <a:tcPr>
                    <a:solidFill>
                      <a:srgbClr val="F4F3EF"/>
                    </a:solidFill>
                  </a:tcPr>
                </a:tc>
              </a:tr>
              <a:tr h="347472">
                <a:tc>
                  <a:txBody>
                    <a:bodyPr/>
                    <a:lstStyle/>
                    <a:p>
                      <a:pPr>
                        <a:defRPr sz="1100" b="0">
                          <a:solidFill>
                            <a:srgbClr val="0B0B0B"/>
                          </a:solidFill>
                          <a:latin typeface="Calibri"/>
                        </a:defRPr>
                      </a:pPr>
                      <a:r>
                        <a:t>Limousine</a:t>
                      </a:r>
                    </a:p>
                  </a:txBody>
                  <a:tcPr>
                    <a:solidFill>
                      <a:srgbClr val="FFFFFF"/>
                    </a:solidFill>
                  </a:tcPr>
                </a:tc>
                <a:tc>
                  <a:txBody>
                    <a:bodyPr/>
                    <a:lstStyle/>
                    <a:p>
                      <a:pPr algn="r">
                        <a:defRPr sz="1100" b="0">
                          <a:solidFill>
                            <a:srgbClr val="0B0B0B"/>
                          </a:solidFill>
                          <a:latin typeface="Calibri"/>
                        </a:defRPr>
                      </a:pPr>
                      <a:r>
                        <a:t>558</a:t>
                      </a:r>
                    </a:p>
                  </a:txBody>
                  <a:tcPr>
                    <a:solidFill>
                      <a:srgbClr val="FFFFFF"/>
                    </a:solidFill>
                  </a:tcPr>
                </a:tc>
                <a:tc>
                  <a:txBody>
                    <a:bodyPr/>
                    <a:lstStyle/>
                    <a:p>
                      <a:pPr algn="r">
                        <a:defRPr sz="1100" b="0">
                          <a:solidFill>
                            <a:srgbClr val="0B0B0B"/>
                          </a:solidFill>
                          <a:latin typeface="Calibri"/>
                        </a:defRPr>
                      </a:pPr>
                      <a:r>
                        <a:t>253</a:t>
                      </a:r>
                    </a:p>
                  </a:txBody>
                  <a:tcPr>
                    <a:solidFill>
                      <a:srgbClr val="FFFFFF"/>
                    </a:solidFill>
                  </a:tcPr>
                </a:tc>
                <a:tc>
                  <a:txBody>
                    <a:bodyPr/>
                    <a:lstStyle/>
                    <a:p>
                      <a:pPr algn="r">
                        <a:defRPr sz="1100" b="0">
                          <a:solidFill>
                            <a:srgbClr val="0B0B0B"/>
                          </a:solidFill>
                          <a:latin typeface="Calibri"/>
                        </a:defRPr>
                      </a:pPr>
                      <a:r>
                        <a:t>220.3</a:t>
                      </a:r>
                    </a:p>
                  </a:txBody>
                  <a:tcPr>
                    <a:solidFill>
                      <a:srgbClr val="FFFFFF"/>
                    </a:solidFill>
                  </a:tcPr>
                </a:tc>
                <a:tc>
                  <a:txBody>
                    <a:bodyPr/>
                    <a:lstStyle/>
                    <a:p>
                      <a:pPr algn="r">
                        <a:defRPr sz="1100" b="0">
                          <a:solidFill>
                            <a:srgbClr val="0B0B0B"/>
                          </a:solidFill>
                          <a:latin typeface="Calibri"/>
                        </a:defRPr>
                      </a:pPr>
                      <a:r>
                        <a:t>1.2</a:t>
                      </a:r>
                    </a:p>
                  </a:txBody>
                  <a:tcPr>
                    <a:solidFill>
                      <a:srgbClr val="FFFFFF"/>
                    </a:solidFill>
                  </a:tcPr>
                </a:tc>
              </a:tr>
              <a:tr h="347472">
                <a:tc>
                  <a:txBody>
                    <a:bodyPr/>
                    <a:lstStyle/>
                    <a:p>
                      <a:pPr>
                        <a:defRPr sz="1100" b="0">
                          <a:solidFill>
                            <a:srgbClr val="0B0B0B"/>
                          </a:solidFill>
                          <a:latin typeface="Calibri"/>
                        </a:defRPr>
                      </a:pPr>
                      <a:r>
                        <a:t>Private drivers</a:t>
                      </a:r>
                    </a:p>
                  </a:txBody>
                  <a:tcPr>
                    <a:solidFill>
                      <a:srgbClr val="F4F3EF"/>
                    </a:solidFill>
                  </a:tcPr>
                </a:tc>
                <a:tc>
                  <a:txBody>
                    <a:bodyPr/>
                    <a:lstStyle/>
                    <a:p>
                      <a:pPr algn="r">
                        <a:defRPr sz="1100" b="0">
                          <a:solidFill>
                            <a:srgbClr val="0B0B0B"/>
                          </a:solidFill>
                          <a:latin typeface="Calibri"/>
                        </a:defRPr>
                      </a:pPr>
                      <a:r>
                        <a:t>91,211</a:t>
                      </a:r>
                    </a:p>
                  </a:txBody>
                  <a:tcPr>
                    <a:solidFill>
                      <a:srgbClr val="F4F3EF"/>
                    </a:solidFill>
                  </a:tcPr>
                </a:tc>
                <a:tc>
                  <a:txBody>
                    <a:bodyPr/>
                    <a:lstStyle/>
                    <a:p>
                      <a:pPr algn="r">
                        <a:defRPr sz="1100" b="0">
                          <a:solidFill>
                            <a:srgbClr val="0B0B0B"/>
                          </a:solidFill>
                          <a:latin typeface="Calibri"/>
                        </a:defRPr>
                      </a:pPr>
                      <a:r>
                        <a:t>50,194</a:t>
                      </a:r>
                    </a:p>
                  </a:txBody>
                  <a:tcPr>
                    <a:solidFill>
                      <a:srgbClr val="F4F3EF"/>
                    </a:solidFill>
                  </a:tcPr>
                </a:tc>
                <a:tc>
                  <a:txBody>
                    <a:bodyPr/>
                    <a:lstStyle/>
                    <a:p>
                      <a:pPr algn="r">
                        <a:defRPr sz="1100" b="0">
                          <a:solidFill>
                            <a:srgbClr val="0B0B0B"/>
                          </a:solidFill>
                          <a:latin typeface="Calibri"/>
                        </a:defRPr>
                      </a:pPr>
                      <a:r>
                        <a:t>181.7</a:t>
                      </a:r>
                    </a:p>
                  </a:txBody>
                  <a:tcPr>
                    <a:solidFill>
                      <a:srgbClr val="F4F3EF"/>
                    </a:solidFill>
                  </a:tcPr>
                </a:tc>
                <a:tc>
                  <a:txBody>
                    <a:bodyPr/>
                    <a:lstStyle/>
                    <a:p>
                      <a:pPr algn="r">
                        <a:defRPr sz="1100" b="0">
                          <a:solidFill>
                            <a:srgbClr val="0B0B0B"/>
                          </a:solidFill>
                          <a:latin typeface="Calibri"/>
                        </a:defRPr>
                      </a:pPr>
                      <a:r>
                        <a:t>1.0</a:t>
                      </a:r>
                    </a:p>
                  </a:txBody>
                  <a:tcPr>
                    <a:solidFill>
                      <a:srgbClr val="F4F3EF"/>
                    </a:solidFill>
                  </a:tcPr>
                </a:tc>
              </a:tr>
            </a:tbl>
          </a:graphicData>
        </a:graphic>
      </p:graphicFrame>
      <p:sp>
        <p:nvSpPr>
          <p:cNvPr id="5" name="TextBox 4"/>
          <p:cNvSpPr txBox="1"/>
          <p:nvPr/>
        </p:nvSpPr>
        <p:spPr>
          <a:xfrm>
            <a:off x="548640" y="6400800"/>
            <a:ext cx="10058400" cy="320040"/>
          </a:xfrm>
          <a:prstGeom prst="rect">
            <a:avLst/>
          </a:prstGeom>
          <a:noFill/>
        </p:spPr>
        <p:txBody>
          <a:bodyPr wrap="square">
            <a:spAutoFit/>
          </a:bodyPr>
          <a:lstStyle/>
          <a:p>
            <a:pPr>
              <a:spcAft>
                <a:spcPts val="800"/>
              </a:spcAft>
              <a:defRPr sz="900" b="0">
                <a:solidFill>
                  <a:srgbClr val="52514E"/>
                </a:solidFill>
                <a:latin typeface="Calibri"/>
              </a:defRPr>
            </a:pPr>
            <a:r>
              <a:t>Miles by stratum: fleet_safety_programme_2027.xlsx, sheet Miles by stratum.</a:t>
            </a:r>
          </a:p>
        </p:txBody>
      </p:sp>
      <p:sp>
        <p:nvSpPr>
          <p:cNvPr id="6" name="TextBox 5"/>
          <p:cNvSpPr txBox="1"/>
          <p:nvPr/>
        </p:nvSpPr>
        <p:spPr>
          <a:xfrm>
            <a:off x="11247120" y="6400800"/>
            <a:ext cx="548640" cy="320040"/>
          </a:xfrm>
          <a:prstGeom prst="rect">
            <a:avLst/>
          </a:prstGeom>
          <a:noFill/>
        </p:spPr>
        <p:txBody>
          <a:bodyPr wrap="square">
            <a:spAutoFit/>
          </a:bodyPr>
          <a:lstStyle/>
          <a:p>
            <a:pPr>
              <a:spcAft>
                <a:spcPts val="800"/>
              </a:spcAft>
              <a:defRPr sz="900" b="0">
                <a:solidFill>
                  <a:srgbClr val="52514E"/>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spcAft>
                <a:spcPts val="800"/>
              </a:spcAft>
              <a:defRPr sz="2200" b="1">
                <a:solidFill>
                  <a:srgbClr val="0B0B0B"/>
                </a:solidFill>
                <a:latin typeface="Calibri"/>
              </a:defRPr>
            </a:pPr>
            <a:r>
              <a:t>Ride-hail drivers caused the crashes that killed or seriously injured the most people, and cost the most</a:t>
            </a:r>
          </a:p>
        </p:txBody>
      </p:sp>
      <p:graphicFrame>
        <p:nvGraphicFramePr>
          <p:cNvPr id="3" name="Table 2"/>
          <p:cNvGraphicFramePr>
            <a:graphicFrameLocks noGrp="1"/>
          </p:cNvGraphicFramePr>
          <p:nvPr/>
        </p:nvGraphicFramePr>
        <p:xfrm>
          <a:off x="822960" y="1417320"/>
          <a:ext cx="7680960" cy="2779776"/>
        </p:xfrm>
        <a:graphic>
          <a:graphicData uri="http://schemas.openxmlformats.org/drawingml/2006/table">
            <a:tbl>
              <a:tblPr firstRow="1" bandRow="1">
                <a:tableStyleId>{5C22544A-7EE6-4342-B048-85BDC9FD1C3A}</a:tableStyleId>
              </a:tblPr>
              <a:tblGrid>
                <a:gridCol w="2560320"/>
                <a:gridCol w="2926080"/>
                <a:gridCol w="2194560"/>
              </a:tblGrid>
              <a:tr h="347472">
                <a:tc>
                  <a:txBody>
                    <a:bodyPr/>
                    <a:lstStyle/>
                    <a:p>
                      <a:pPr>
                        <a:defRPr sz="1300" b="1">
                          <a:solidFill>
                            <a:srgbClr val="FFFFFF"/>
                          </a:solidFill>
                          <a:latin typeface="Calibri"/>
                        </a:defRPr>
                      </a:pPr>
                      <a:r>
                        <a:t>Use, 2021 to 2025</a:t>
                      </a:r>
                    </a:p>
                  </a:txBody>
                  <a:tcPr>
                    <a:solidFill>
                      <a:srgbClr val="1F4D3A"/>
                    </a:solidFill>
                  </a:tcPr>
                </a:tc>
                <a:tc>
                  <a:txBody>
                    <a:bodyPr/>
                    <a:lstStyle/>
                    <a:p>
                      <a:pPr algn="r">
                        <a:defRPr sz="1300" b="1">
                          <a:solidFill>
                            <a:srgbClr val="FFFFFF"/>
                          </a:solidFill>
                          <a:latin typeface="Calibri"/>
                        </a:defRPr>
                      </a:pPr>
                      <a:r>
                        <a:t>People killed or seriously injured</a:t>
                      </a:r>
                    </a:p>
                  </a:txBody>
                  <a:tcPr>
                    <a:solidFill>
                      <a:srgbClr val="1F4D3A"/>
                    </a:solidFill>
                  </a:tcPr>
                </a:tc>
                <a:tc>
                  <a:txBody>
                    <a:bodyPr/>
                    <a:lstStyle/>
                    <a:p>
                      <a:pPr algn="r">
                        <a:defRPr sz="1300" b="1">
                          <a:solidFill>
                            <a:srgbClr val="FFFFFF"/>
                          </a:solidFill>
                          <a:latin typeface="Calibri"/>
                        </a:defRPr>
                      </a:pPr>
                      <a:r>
                        <a:t>Cost (USD millions)</a:t>
                      </a:r>
                    </a:p>
                  </a:txBody>
                  <a:tcPr>
                    <a:solidFill>
                      <a:srgbClr val="1F4D3A"/>
                    </a:solidFill>
                  </a:tcPr>
                </a:tc>
              </a:tr>
              <a:tr h="347472">
                <a:tc>
                  <a:txBody>
                    <a:bodyPr/>
                    <a:lstStyle/>
                    <a:p>
                      <a:pPr>
                        <a:defRPr sz="1300" b="0">
                          <a:solidFill>
                            <a:srgbClr val="0B0B0B"/>
                          </a:solidFill>
                          <a:latin typeface="Calibri"/>
                        </a:defRPr>
                      </a:pPr>
                      <a:r>
                        <a:t>Taxi</a:t>
                      </a:r>
                    </a:p>
                  </a:txBody>
                  <a:tcPr>
                    <a:solidFill>
                      <a:srgbClr val="FFFFFF"/>
                    </a:solidFill>
                  </a:tcPr>
                </a:tc>
                <a:tc>
                  <a:txBody>
                    <a:bodyPr/>
                    <a:lstStyle/>
                    <a:p>
                      <a:pPr algn="r">
                        <a:defRPr sz="1300" b="0">
                          <a:solidFill>
                            <a:srgbClr val="0B0B0B"/>
                          </a:solidFill>
                          <a:latin typeface="Calibri"/>
                        </a:defRPr>
                      </a:pPr>
                      <a:r>
                        <a:t>74</a:t>
                      </a:r>
                    </a:p>
                  </a:txBody>
                  <a:tcPr>
                    <a:solidFill>
                      <a:srgbClr val="FFFFFF"/>
                    </a:solidFill>
                  </a:tcPr>
                </a:tc>
                <a:tc>
                  <a:txBody>
                    <a:bodyPr/>
                    <a:lstStyle/>
                    <a:p>
                      <a:pPr algn="r">
                        <a:defRPr sz="1300" b="0">
                          <a:solidFill>
                            <a:srgbClr val="0B0B0B"/>
                          </a:solidFill>
                          <a:latin typeface="Calibri"/>
                        </a:defRPr>
                      </a:pPr>
                      <a:r>
                        <a:t>505.9</a:t>
                      </a:r>
                    </a:p>
                  </a:txBody>
                  <a:tcPr>
                    <a:solidFill>
                      <a:srgbClr val="FFFFFF"/>
                    </a:solidFill>
                  </a:tcPr>
                </a:tc>
              </a:tr>
              <a:tr h="347472">
                <a:tc>
                  <a:txBody>
                    <a:bodyPr/>
                    <a:lstStyle/>
                    <a:p>
                      <a:pPr>
                        <a:defRPr sz="1300" b="0">
                          <a:solidFill>
                            <a:srgbClr val="0B0B0B"/>
                          </a:solidFill>
                          <a:latin typeface="Calibri"/>
                        </a:defRPr>
                      </a:pPr>
                      <a:r>
                        <a:t>Ride-hail</a:t>
                      </a:r>
                    </a:p>
                  </a:txBody>
                  <a:tcPr>
                    <a:solidFill>
                      <a:srgbClr val="F4F3EF"/>
                    </a:solidFill>
                  </a:tcPr>
                </a:tc>
                <a:tc>
                  <a:txBody>
                    <a:bodyPr/>
                    <a:lstStyle/>
                    <a:p>
                      <a:pPr algn="r">
                        <a:defRPr sz="1300" b="0">
                          <a:solidFill>
                            <a:srgbClr val="0B0B0B"/>
                          </a:solidFill>
                          <a:latin typeface="Calibri"/>
                        </a:defRPr>
                      </a:pPr>
                      <a:r>
                        <a:t>402</a:t>
                      </a:r>
                    </a:p>
                  </a:txBody>
                  <a:tcPr>
                    <a:solidFill>
                      <a:srgbClr val="F4F3EF"/>
                    </a:solidFill>
                  </a:tcPr>
                </a:tc>
                <a:tc>
                  <a:txBody>
                    <a:bodyPr/>
                    <a:lstStyle/>
                    <a:p>
                      <a:pPr algn="r">
                        <a:defRPr sz="1300" b="0">
                          <a:solidFill>
                            <a:srgbClr val="0B0B0B"/>
                          </a:solidFill>
                          <a:latin typeface="Calibri"/>
                        </a:defRPr>
                      </a:pPr>
                      <a:r>
                        <a:t>1,979.6</a:t>
                      </a:r>
                    </a:p>
                  </a:txBody>
                  <a:tcPr>
                    <a:solidFill>
                      <a:srgbClr val="F4F3EF"/>
                    </a:solidFill>
                  </a:tcPr>
                </a:tc>
              </a:tr>
              <a:tr h="347472">
                <a:tc>
                  <a:txBody>
                    <a:bodyPr/>
                    <a:lstStyle/>
                    <a:p>
                      <a:pPr>
                        <a:defRPr sz="1300" b="0">
                          <a:solidFill>
                            <a:srgbClr val="0B0B0B"/>
                          </a:solidFill>
                          <a:latin typeface="Calibri"/>
                        </a:defRPr>
                      </a:pPr>
                      <a:r>
                        <a:t>Limousine</a:t>
                      </a:r>
                    </a:p>
                  </a:txBody>
                  <a:tcPr>
                    <a:solidFill>
                      <a:srgbClr val="FFFFFF"/>
                    </a:solidFill>
                  </a:tcPr>
                </a:tc>
                <a:tc>
                  <a:txBody>
                    <a:bodyPr/>
                    <a:lstStyle/>
                    <a:p>
                      <a:pPr algn="r">
                        <a:defRPr sz="1300" b="0">
                          <a:solidFill>
                            <a:srgbClr val="0B0B0B"/>
                          </a:solidFill>
                          <a:latin typeface="Calibri"/>
                        </a:defRPr>
                      </a:pPr>
                      <a:r>
                        <a:t>45</a:t>
                      </a:r>
                    </a:p>
                  </a:txBody>
                  <a:tcPr>
                    <a:solidFill>
                      <a:srgbClr val="FFFFFF"/>
                    </a:solidFill>
                  </a:tcPr>
                </a:tc>
                <a:tc>
                  <a:txBody>
                    <a:bodyPr/>
                    <a:lstStyle/>
                    <a:p>
                      <a:pPr algn="r">
                        <a:defRPr sz="1300" b="0">
                          <a:solidFill>
                            <a:srgbClr val="0B0B0B"/>
                          </a:solidFill>
                          <a:latin typeface="Calibri"/>
                        </a:defRPr>
                      </a:pPr>
                      <a:r>
                        <a:t>242.4</a:t>
                      </a:r>
                    </a:p>
                  </a:txBody>
                  <a:tcPr>
                    <a:solidFill>
                      <a:srgbClr val="FFFFFF"/>
                    </a:solidFill>
                  </a:tcPr>
                </a:tc>
              </a:tr>
              <a:tr h="347472">
                <a:tc>
                  <a:txBody>
                    <a:bodyPr/>
                    <a:lstStyle/>
                    <a:p>
                      <a:pPr>
                        <a:defRPr sz="1300" b="0">
                          <a:solidFill>
                            <a:srgbClr val="0B0B0B"/>
                          </a:solidFill>
                          <a:latin typeface="Calibri"/>
                        </a:defRPr>
                      </a:pPr>
                      <a:r>
                        <a:t>Airport shuttle</a:t>
                      </a:r>
                    </a:p>
                  </a:txBody>
                  <a:tcPr>
                    <a:solidFill>
                      <a:srgbClr val="F4F3EF"/>
                    </a:solidFill>
                  </a:tcPr>
                </a:tc>
                <a:tc>
                  <a:txBody>
                    <a:bodyPr/>
                    <a:lstStyle/>
                    <a:p>
                      <a:pPr algn="r">
                        <a:defRPr sz="1300" b="0">
                          <a:solidFill>
                            <a:srgbClr val="0B0B0B"/>
                          </a:solidFill>
                          <a:latin typeface="Calibri"/>
                        </a:defRPr>
                      </a:pPr>
                      <a:r>
                        <a:t>63</a:t>
                      </a:r>
                    </a:p>
                  </a:txBody>
                  <a:tcPr>
                    <a:solidFill>
                      <a:srgbClr val="F4F3EF"/>
                    </a:solidFill>
                  </a:tcPr>
                </a:tc>
                <a:tc>
                  <a:txBody>
                    <a:bodyPr/>
                    <a:lstStyle/>
                    <a:p>
                      <a:pPr algn="r">
                        <a:defRPr sz="1300" b="0">
                          <a:solidFill>
                            <a:srgbClr val="0B0B0B"/>
                          </a:solidFill>
                          <a:latin typeface="Calibri"/>
                        </a:defRPr>
                      </a:pPr>
                      <a:r>
                        <a:t>299.5</a:t>
                      </a:r>
                    </a:p>
                  </a:txBody>
                  <a:tcPr>
                    <a:solidFill>
                      <a:srgbClr val="F4F3EF"/>
                    </a:solidFill>
                  </a:tcPr>
                </a:tc>
              </a:tr>
              <a:tr h="347472">
                <a:tc>
                  <a:txBody>
                    <a:bodyPr/>
                    <a:lstStyle/>
                    <a:p>
                      <a:pPr>
                        <a:defRPr sz="1300" b="0">
                          <a:solidFill>
                            <a:srgbClr val="0B0B0B"/>
                          </a:solidFill>
                          <a:latin typeface="Calibri"/>
                        </a:defRPr>
                      </a:pPr>
                      <a:r>
                        <a:t>Paratransit</a:t>
                      </a:r>
                    </a:p>
                  </a:txBody>
                  <a:tcPr>
                    <a:solidFill>
                      <a:srgbClr val="FFFFFF"/>
                    </a:solidFill>
                  </a:tcPr>
                </a:tc>
                <a:tc>
                  <a:txBody>
                    <a:bodyPr/>
                    <a:lstStyle/>
                    <a:p>
                      <a:pPr algn="r">
                        <a:defRPr sz="1300" b="0">
                          <a:solidFill>
                            <a:srgbClr val="0B0B0B"/>
                          </a:solidFill>
                          <a:latin typeface="Calibri"/>
                        </a:defRPr>
                      </a:pPr>
                      <a:r>
                        <a:t>55</a:t>
                      </a:r>
                    </a:p>
                  </a:txBody>
                  <a:tcPr>
                    <a:solidFill>
                      <a:srgbClr val="FFFFFF"/>
                    </a:solidFill>
                  </a:tcPr>
                </a:tc>
                <a:tc>
                  <a:txBody>
                    <a:bodyPr/>
                    <a:lstStyle/>
                    <a:p>
                      <a:pPr algn="r">
                        <a:defRPr sz="1300" b="0">
                          <a:solidFill>
                            <a:srgbClr val="0B0B0B"/>
                          </a:solidFill>
                          <a:latin typeface="Calibri"/>
                        </a:defRPr>
                      </a:pPr>
                      <a:r>
                        <a:t>279.5</a:t>
                      </a:r>
                    </a:p>
                  </a:txBody>
                  <a:tcPr>
                    <a:solidFill>
                      <a:srgbClr val="FFFFFF"/>
                    </a:solidFill>
                  </a:tcPr>
                </a:tc>
              </a:tr>
              <a:tr h="347472">
                <a:tc>
                  <a:txBody>
                    <a:bodyPr/>
                    <a:lstStyle/>
                    <a:p>
                      <a:pPr>
                        <a:defRPr sz="1300" b="0">
                          <a:solidFill>
                            <a:srgbClr val="0B0B0B"/>
                          </a:solidFill>
                          <a:latin typeface="Calibri"/>
                        </a:defRPr>
                      </a:pPr>
                      <a:r>
                        <a:t>Parcel delivery</a:t>
                      </a:r>
                    </a:p>
                  </a:txBody>
                  <a:tcPr>
                    <a:solidFill>
                      <a:srgbClr val="F4F3EF"/>
                    </a:solidFill>
                  </a:tcPr>
                </a:tc>
                <a:tc>
                  <a:txBody>
                    <a:bodyPr/>
                    <a:lstStyle/>
                    <a:p>
                      <a:pPr algn="r">
                        <a:defRPr sz="1300" b="0">
                          <a:solidFill>
                            <a:srgbClr val="0B0B0B"/>
                          </a:solidFill>
                          <a:latin typeface="Calibri"/>
                        </a:defRPr>
                      </a:pPr>
                      <a:r>
                        <a:t>109</a:t>
                      </a:r>
                    </a:p>
                  </a:txBody>
                  <a:tcPr>
                    <a:solidFill>
                      <a:srgbClr val="F4F3EF"/>
                    </a:solidFill>
                  </a:tcPr>
                </a:tc>
                <a:tc>
                  <a:txBody>
                    <a:bodyPr/>
                    <a:lstStyle/>
                    <a:p>
                      <a:pPr algn="r">
                        <a:defRPr sz="1300" b="0">
                          <a:solidFill>
                            <a:srgbClr val="0B0B0B"/>
                          </a:solidFill>
                          <a:latin typeface="Calibri"/>
                        </a:defRPr>
                      </a:pPr>
                      <a:r>
                        <a:t>641.9</a:t>
                      </a:r>
                    </a:p>
                  </a:txBody>
                  <a:tcPr>
                    <a:solidFill>
                      <a:srgbClr val="F4F3EF"/>
                    </a:solidFill>
                  </a:tcPr>
                </a:tc>
              </a:tr>
              <a:tr h="347472">
                <a:tc>
                  <a:txBody>
                    <a:bodyPr/>
                    <a:lstStyle/>
                    <a:p>
                      <a:pPr>
                        <a:defRPr sz="1300" b="0">
                          <a:solidFill>
                            <a:srgbClr val="0B0B0B"/>
                          </a:solidFill>
                          <a:latin typeface="Calibri"/>
                        </a:defRPr>
                      </a:pPr>
                      <a:r>
                        <a:t>App delivery</a:t>
                      </a:r>
                    </a:p>
                  </a:txBody>
                  <a:tcPr>
                    <a:solidFill>
                      <a:srgbClr val="FFFFFF"/>
                    </a:solidFill>
                  </a:tcPr>
                </a:tc>
                <a:tc>
                  <a:txBody>
                    <a:bodyPr/>
                    <a:lstStyle/>
                    <a:p>
                      <a:pPr algn="r">
                        <a:defRPr sz="1300" b="0">
                          <a:solidFill>
                            <a:srgbClr val="0B0B0B"/>
                          </a:solidFill>
                          <a:latin typeface="Calibri"/>
                        </a:defRPr>
                      </a:pPr>
                      <a:r>
                        <a:t>136</a:t>
                      </a:r>
                    </a:p>
                  </a:txBody>
                  <a:tcPr>
                    <a:solidFill>
                      <a:srgbClr val="FFFFFF"/>
                    </a:solidFill>
                  </a:tcPr>
                </a:tc>
                <a:tc>
                  <a:txBody>
                    <a:bodyPr/>
                    <a:lstStyle/>
                    <a:p>
                      <a:pPr algn="r">
                        <a:defRPr sz="1300" b="0">
                          <a:solidFill>
                            <a:srgbClr val="0B0B0B"/>
                          </a:solidFill>
                          <a:latin typeface="Calibri"/>
                        </a:defRPr>
                      </a:pPr>
                      <a:r>
                        <a:t>699.9</a:t>
                      </a:r>
                    </a:p>
                  </a:txBody>
                  <a:tcPr>
                    <a:solidFill>
                      <a:srgbClr val="FFFFFF"/>
                    </a:solidFill>
                  </a:tcPr>
                </a:tc>
              </a:tr>
            </a:tbl>
          </a:graphicData>
        </a:graphic>
      </p:graphicFrame>
      <p:sp>
        <p:nvSpPr>
          <p:cNvPr id="4" name="TextBox 3"/>
          <p:cNvSpPr txBox="1"/>
          <p:nvPr/>
        </p:nvSpPr>
        <p:spPr>
          <a:xfrm>
            <a:off x="548640" y="6400800"/>
            <a:ext cx="10058400" cy="320040"/>
          </a:xfrm>
          <a:prstGeom prst="rect">
            <a:avLst/>
          </a:prstGeom>
          <a:noFill/>
        </p:spPr>
        <p:txBody>
          <a:bodyPr wrap="square">
            <a:spAutoFit/>
          </a:bodyPr>
          <a:lstStyle/>
          <a:p>
            <a:pPr>
              <a:spcAft>
                <a:spcPts val="800"/>
              </a:spcAft>
              <a:defRPr sz="900" b="0">
                <a:solidFill>
                  <a:srgbClr val="52514E"/>
                </a:solidFill>
                <a:latin typeface="Calibri"/>
              </a:defRPr>
            </a:pPr>
            <a:r>
              <a:t>Every crash of any kind in which a driver of the use was recorded at fault; deaths within 30 days; the Department's 2025 crash unit costs.</a:t>
            </a:r>
          </a:p>
        </p:txBody>
      </p:sp>
      <p:sp>
        <p:nvSpPr>
          <p:cNvPr id="5" name="TextBox 4"/>
          <p:cNvSpPr txBox="1"/>
          <p:nvPr/>
        </p:nvSpPr>
        <p:spPr>
          <a:xfrm>
            <a:off x="11247120" y="6400800"/>
            <a:ext cx="548640" cy="320040"/>
          </a:xfrm>
          <a:prstGeom prst="rect">
            <a:avLst/>
          </a:prstGeom>
          <a:noFill/>
        </p:spPr>
        <p:txBody>
          <a:bodyPr wrap="square">
            <a:spAutoFit/>
          </a:bodyPr>
          <a:lstStyle/>
          <a:p>
            <a:pPr>
              <a:spcAft>
                <a:spcPts val="800"/>
              </a:spcAft>
              <a:defRPr sz="900" b="0">
                <a:solidFill>
                  <a:srgbClr val="52514E"/>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914400"/>
          </a:xfrm>
          <a:prstGeom prst="rect">
            <a:avLst/>
          </a:prstGeom>
          <a:noFill/>
        </p:spPr>
        <p:txBody>
          <a:bodyPr wrap="square">
            <a:spAutoFit/>
          </a:bodyPr>
          <a:lstStyle/>
          <a:p>
            <a:pPr>
              <a:spcAft>
                <a:spcPts val="800"/>
              </a:spcAft>
              <a:defRPr sz="2200" b="1">
                <a:solidFill>
                  <a:srgbClr val="0B0B0B"/>
                </a:solidFill>
                <a:latin typeface="Calibri"/>
              </a:defRPr>
            </a:pPr>
            <a:r>
              <a:t>What the operators are told by 15 January</a:t>
            </a:r>
          </a:p>
        </p:txBody>
      </p:sp>
      <p:sp>
        <p:nvSpPr>
          <p:cNvPr id="3" name="TextBox 2"/>
          <p:cNvSpPr txBox="1"/>
          <p:nvPr/>
        </p:nvSpPr>
        <p:spPr>
          <a:xfrm>
            <a:off x="548640" y="1371600"/>
            <a:ext cx="10972800" cy="4114800"/>
          </a:xfrm>
          <a:prstGeom prst="rect">
            <a:avLst/>
          </a:prstGeom>
          <a:noFill/>
        </p:spPr>
        <p:txBody>
          <a:bodyPr wrap="square">
            <a:spAutoFit/>
          </a:bodyPr>
          <a:lstStyle/>
          <a:p>
            <a:pPr>
              <a:spcAft>
                <a:spcPts val="800"/>
              </a:spcAft>
              <a:defRPr sz="1600" b="0">
                <a:solidFill>
                  <a:srgbClr val="0B0B0B"/>
                </a:solidFill>
                <a:latin typeface="Calibri"/>
              </a:defRPr>
            </a:pPr>
            <a:r>
              <a:t>Covered from 1 July 2027: taxicabs, ride-hail, parcel delivery and app-based delivery.</a:t>
            </a:r>
          </a:p>
          <a:p>
            <a:pPr>
              <a:spcAft>
                <a:spcPts val="800"/>
              </a:spcAft>
              <a:defRPr sz="1600" b="0">
                <a:solidFill>
                  <a:srgbClr val="0B0B0B"/>
                </a:solidFill>
                <a:latin typeface="Calibri"/>
              </a:defRPr>
            </a:pPr>
            <a:r>
              <a:t>Not covered: limousines, airport shuttles and paratransit.</a:t>
            </a:r>
          </a:p>
          <a:p>
            <a:pPr>
              <a:spcAft>
                <a:spcPts val="800"/>
              </a:spcAft>
              <a:defRPr sz="1600" b="0">
                <a:solidFill>
                  <a:srgbClr val="0B0B0B"/>
                </a:solidFill>
                <a:latin typeface="Calibri"/>
              </a:defRPr>
            </a:pPr>
            <a:r>
              <a:t>Operators of the covered uses fit telematics to every vehicle they run in the use and enrol its drivers in coaching. The test is run again every three years on the latest five years of crashes.</a:t>
            </a:r>
          </a:p>
        </p:txBody>
      </p:sp>
      <p:sp>
        <p:nvSpPr>
          <p:cNvPr id="4" name="TextBox 3"/>
          <p:cNvSpPr txBox="1"/>
          <p:nvPr/>
        </p:nvSpPr>
        <p:spPr>
          <a:xfrm>
            <a:off x="548640" y="6400800"/>
            <a:ext cx="10058400" cy="320040"/>
          </a:xfrm>
          <a:prstGeom prst="rect">
            <a:avLst/>
          </a:prstGeom>
          <a:noFill/>
        </p:spPr>
        <p:txBody>
          <a:bodyPr wrap="square">
            <a:spAutoFit/>
          </a:bodyPr>
          <a:lstStyle/>
          <a:p>
            <a:pPr>
              <a:spcAft>
                <a:spcPts val="800"/>
              </a:spcAft>
              <a:defRPr sz="900" b="0">
                <a:solidFill>
                  <a:srgbClr val="52514E"/>
                </a:solidFill>
                <a:latin typeface="Calibri"/>
              </a:defRPr>
            </a:pPr>
            <a:r>
              <a:t>Coverage rule, adopted 14 October 2026 (Resolution 2026-41).</a:t>
            </a:r>
          </a:p>
        </p:txBody>
      </p:sp>
      <p:sp>
        <p:nvSpPr>
          <p:cNvPr id="5" name="TextBox 4"/>
          <p:cNvSpPr txBox="1"/>
          <p:nvPr/>
        </p:nvSpPr>
        <p:spPr>
          <a:xfrm>
            <a:off x="11247120" y="6400800"/>
            <a:ext cx="548640" cy="320040"/>
          </a:xfrm>
          <a:prstGeom prst="rect">
            <a:avLst/>
          </a:prstGeom>
          <a:noFill/>
        </p:spPr>
        <p:txBody>
          <a:bodyPr wrap="square">
            <a:spAutoFit/>
          </a:bodyPr>
          <a:lstStyle/>
          <a:p>
            <a:pPr>
              <a:spcAft>
                <a:spcPts val="800"/>
              </a:spcAft>
              <a:defRPr sz="900" b="0">
                <a:solidFill>
                  <a:srgbClr val="52514E"/>
                </a:solidFill>
                <a:latin typeface="Calibri"/>
              </a:defRPr>
            </a:pPr>
            <a:r>
              <a:t>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Commercial Fleet Safety Programme: coverage 2027</dc:title>
  <dc:creator>Thomas Moyer</dc:creator>
  <cp:lastModifiedBy>Thomas Moyer</cp:lastModifiedBy>
  <dcterms:created xsi:type="dcterms:W3CDTF">2026-11-20T15:10:00Z</dcterms:created>
  <dcterms:modified xsi:type="dcterms:W3CDTF">2026-11-25T19:48:00Z</dcterms:modified>
</cp:coreProperties>
</file>