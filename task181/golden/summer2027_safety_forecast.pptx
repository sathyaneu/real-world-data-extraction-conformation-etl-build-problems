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110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3040"/>
                </a:solidFill>
              </a:rPr>
              <a:t>Tarvik will run over the summer 2027 tolerance; no other sector will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900000"/>
            <a:ext cx="110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F6B76"/>
                </a:solidFill>
              </a:rPr>
              <a:t>Forecast ATM-related losses of separation per 100,000 flight hours, planning traffic issue 1 (9 Oct 2026), against the 40.0 tolerance of HACC-SAF-PLN-03 cl.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443999"/>
            <a:ext cx="110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B76"/>
                </a:solidFill>
              </a:rPr>
              <a:t>Holmvik ACC Safety Office  |  Unit Safety Review Board, 4 November 2026  |  Summer 2027 sector plan  |  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404000"/>
            <a:ext cx="8136000" cy="4779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72000" y="1655999"/>
            <a:ext cx="2592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B23A2E"/>
                </a:solidFill>
              </a:rPr>
              <a:t>Tarvik 72.4</a:t>
            </a:r>
          </a:p>
          <a:p>
            <a:r>
              <a:rPr sz="1200" b="0">
                <a:solidFill>
                  <a:srgbClr val="5F6B76"/>
                </a:solidFill>
              </a:rPr>
              <a:t/>
            </a:r>
          </a:p>
          <a:p>
            <a:r>
              <a:rPr sz="1200" b="0">
                <a:solidFill>
                  <a:srgbClr val="5F6B76"/>
                </a:solidFill>
              </a:rPr>
              <a:t>The new Brekka base sends its departures and arrivals through Tarvik's trunk-airway levels: 48,545 pairs of flights whose levels change order in the planning traffic, against 9,682 in summer 2026, on 16,414 flight hours against 14,957.</a:t>
            </a:r>
          </a:p>
          <a:p>
            <a:r>
              <a:rPr sz="1200" b="0">
                <a:solidFill>
                  <a:srgbClr val="5F6B76"/>
                </a:solidFill>
              </a:rPr>
              <a:t/>
            </a:r>
          </a:p>
          <a:p>
            <a:r>
              <a:rPr sz="1200" b="0">
                <a:solidFill>
                  <a:srgbClr val="5F6B76"/>
                </a:solidFill>
              </a:rPr>
              <a:t>Every other sector is at or under 26.4.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110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3040"/>
                </a:solidFill>
              </a:rPr>
              <a:t>Forecast by sector: only Tarvik is above 40.0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900000"/>
            <a:ext cx="110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F6B76"/>
                </a:solidFill>
              </a:rPr>
              <a:t>Summer 2027 (1 June to 31 August, local time), planning traffic issue 1; forecast before any measure under cl.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443999"/>
            <a:ext cx="110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B76"/>
                </a:solidFill>
              </a:rPr>
              <a:t>Holmvik ACC Safety Office  |  Unit Safety Review Board, 4 November 2026  |  Summer 2027 sector plan  | 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6000" y="1475999"/>
          <a:ext cx="11015998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000"/>
                <a:gridCol w="1800000"/>
                <a:gridCol w="2015999"/>
                <a:gridCol w="1944000"/>
                <a:gridCol w="2015999"/>
                <a:gridCol w="1296000"/>
              </a:tblGrid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Sector</a:t>
                      </a:r>
                    </a:p>
                  </a:txBody>
                  <a:tcPr>
                    <a:solidFill>
                      <a:srgbClr val="203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Planning flight hours</a:t>
                      </a:r>
                    </a:p>
                  </a:txBody>
                  <a:tcPr>
                    <a:solidFill>
                      <a:srgbClr val="203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Pairs changing level order</a:t>
                      </a:r>
                    </a:p>
                  </a:txBody>
                  <a:tcPr>
                    <a:solidFill>
                      <a:srgbClr val="203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Forecast ATM-related losses</a:t>
                      </a:r>
                    </a:p>
                  </a:txBody>
                  <a:tcPr>
                    <a:solidFill>
                      <a:srgbClr val="203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Forecast rate per 100,000 FH</a:t>
                      </a:r>
                    </a:p>
                  </a:txBody>
                  <a:tcPr>
                    <a:solidFill>
                      <a:srgbClr val="203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Tolerance</a:t>
                      </a:r>
                    </a:p>
                  </a:txBody>
                  <a:tcPr>
                    <a:solidFill>
                      <a:srgbClr val="203040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23A2E"/>
                          </a:solidFill>
                        </a:rPr>
                        <a:t>Tarvik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B23A2E"/>
                          </a:solidFill>
                        </a:rPr>
                        <a:t>16,414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B23A2E"/>
                          </a:solidFill>
                        </a:rPr>
                        <a:t>48,545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B23A2E"/>
                          </a:solidFill>
                        </a:rPr>
                        <a:t>11.9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B23A2E"/>
                          </a:solidFill>
                        </a:rPr>
                        <a:t>72.4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B23A2E"/>
                          </a:solidFill>
                        </a:rPr>
                        <a:t>40.0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Mosby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9,633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9,768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Grendal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14,343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13,752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Linmark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10,233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10,088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Karrow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7,136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7,049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Lysvik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14,962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16,137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Hallin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7,183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7,299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Sandvik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10,116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7,793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3040"/>
                          </a:solidFill>
                        </a:rPr>
                        <a:t>All sectors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3040"/>
                          </a:solidFill>
                        </a:rPr>
                        <a:t>90,021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3040"/>
                          </a:solidFill>
                        </a:rPr>
                        <a:t>120,431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3040"/>
                          </a:solidFill>
                        </a:rPr>
                        <a:t>29.5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304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304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00" y="5184000"/>
            <a:ext cx="1101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B76"/>
                </a:solidFill>
              </a:rPr>
              <a:t>Forecast losses: 2.45 ATM-related losses per 10,000 pairs (the record since 1 January 2025, all eight sectors) times each sector's pairs in the planning traffic. A pair is two flights in the sector at the same time whose levels change order while both are in it, from entry and exit levels taken as a straight line.</a:t>
            </a:r>
          </a:p>
          <a:p>
            <a:r>
              <a:rPr sz="1100" b="0">
                <a:solidFill>
                  <a:srgbClr val="5F6B76"/>
                </a:solidFill>
              </a:rPr>
              <a:t>Flight hours: sector entry to exit, every flight of the planning traffic (cl. 3.5).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110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3040"/>
                </a:solidFill>
              </a:rPr>
              <a:t>Losses follow the pairs whose levels change order, not the hours flown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900000"/>
            <a:ext cx="110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F6B76"/>
                </a:solidFill>
              </a:rPr>
              <a:t>ATM-related losses of separation (SMI, ATM contribution D or I), 1 January 2025 to 30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443999"/>
            <a:ext cx="110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B76"/>
                </a:solidFill>
              </a:rPr>
              <a:t>Holmvik ACC Safety Office  |  Unit Safety Review Board, 4 November 2026  |  Summer 2027 sector plan  | 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6000" y="1475999"/>
          <a:ext cx="11231998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000"/>
                <a:gridCol w="1655999"/>
                <a:gridCol w="1800000"/>
                <a:gridCol w="2015999"/>
                <a:gridCol w="1944000"/>
                <a:gridCol w="1872000"/>
              </a:tblGrid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Sector</a:t>
                      </a:r>
                    </a:p>
                  </a:txBody>
                  <a:tcPr>
                    <a:solidFill>
                      <a:srgbClr val="203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ATM-related losses</a:t>
                      </a:r>
                    </a:p>
                  </a:txBody>
                  <a:tcPr>
                    <a:solidFill>
                      <a:srgbClr val="203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Flight hours</a:t>
                      </a:r>
                    </a:p>
                  </a:txBody>
                  <a:tcPr>
                    <a:solidFill>
                      <a:srgbClr val="203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Pairs changing level order</a:t>
                      </a:r>
                    </a:p>
                  </a:txBody>
                  <a:tcPr>
                    <a:solidFill>
                      <a:srgbClr val="203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Losses per 100,000 FH</a:t>
                      </a:r>
                    </a:p>
                  </a:txBody>
                  <a:tcPr>
                    <a:solidFill>
                      <a:srgbClr val="203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Losses per 10,000 pairs</a:t>
                      </a:r>
                    </a:p>
                  </a:txBody>
                  <a:tcPr>
                    <a:solidFill>
                      <a:srgbClr val="203040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Tarvik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87,210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48,966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Mosby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54,763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49,331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Grendal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81,666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68,214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Linmark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58,179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50,132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Karrow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41,261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41,094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Lysvik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77,829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73,504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Hallin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39,742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24,560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40"/>
                          </a:solidFill>
                        </a:rPr>
                        <a:t>Sandvik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57,563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36,493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15.6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3040"/>
                          </a:solidFill>
                        </a:rPr>
                        <a:t>2.47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3040"/>
                          </a:solidFill>
                        </a:rPr>
                        <a:t>All sectors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3040"/>
                          </a:solidFill>
                        </a:rPr>
                        <a:t>96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3040"/>
                          </a:solidFill>
                        </a:rPr>
                        <a:t>498,213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3040"/>
                          </a:solidFill>
                        </a:rPr>
                        <a:t>392,294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3040"/>
                          </a:solidFill>
                        </a:rPr>
                        <a:t>19.3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3040"/>
                          </a:solidFill>
                        </a:rPr>
                        <a:t>2.45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00" y="5184000"/>
            <a:ext cx="1101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B76"/>
                </a:solidFill>
              </a:rPr>
              <a:t>Every one of the 96 ATM-related losses was two aircraft in the sector together with one climbing or descending through the other's level. Losses per pair hold between 2.31 and 2.59 in every sector; losses per 100,000 flight hours run from 13.8 to 24.2.</a:t>
            </a:r>
          </a:p>
          <a:p>
            <a:r>
              <a:rPr sz="1100" b="0">
                <a:solidFill>
                  <a:srgbClr val="5F6B76"/>
                </a:solidFill>
              </a:rPr>
              <a:t>The 10 SMI with no ATM contribution (code N, crew deviations from a correct clearance) are outside the indicator (cl. 3.4). Source: occurrence export and FDPS archive, Data and Analytics extract of 12 October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2027 safety forecast</dc:title>
  <dc:creator>Dorte Koch</dc:creator>
  <cp:lastModifiedBy>Dorte Koch</cp:lastModifiedBy>
  <dcterms:created xsi:type="dcterms:W3CDTF">2026-10-14T08:12:40Z</dcterms:created>
  <dcterms:modified xsi:type="dcterms:W3CDTF">2026-10-19T15:02:11Z</dcterms:modified>
</cp:coreProperties>
</file>