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B43C1E"/>
                </a:solidFill>
                <a:latin typeface="Calibri"/>
              </a:rPr>
              <a:t>Send the response team to Griffith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41248"/>
            <a:ext cx="11338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4A5563"/>
                </a:solidFill>
                <a:latin typeface="Calibri"/>
              </a:rPr>
              <a:t>Monday huddle, 5 October 2026. PR-07 4.2: the area with the largest excess of cases with specimens collected 21 September to 4 October over its expected count (4.3).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67665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733"/>
                </a:solidFill>
                <a:latin typeface="Calibri"/>
              </a:rPr>
              <a:t>Cases with specimens collected 21 Sep to 4 Oct, on the 07:00 extract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00784"/>
          <a:ext cx="6766560" cy="286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08760"/>
                <a:gridCol w="1508760"/>
                <a:gridCol w="1645920"/>
              </a:tblGrid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Cases notified so far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Expected (PR-07 4.3)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Most cases swabbed by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Wagga Wagga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3C1E"/>
                          </a:solidFill>
                          <a:latin typeface="Calibri"/>
                        </a:rPr>
                        <a:t>Griffith</a:t>
                      </a:r>
                    </a:p>
                  </a:txBody>
                  <a:tcPr marL="54864" marR="54864" marT="18288" marB="18288" anchor="ctr">
                    <a:solidFill>
                      <a:srgbClr val="FBEE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43C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BEE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B43C1E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B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43C1E"/>
                          </a:solidFill>
                          <a:latin typeface="Calibri"/>
                        </a:rPr>
                        <a:t>Inland Pathology</a:t>
                      </a:r>
                    </a:p>
                  </a:txBody>
                  <a:tcPr marL="54864" marR="54864" marT="18288" marB="18288" anchor="ctr">
                    <a:solidFill>
                      <a:srgbClr val="FBEEE8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Snowy Valleys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Cootamundra-Gundagai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Edward River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Leeton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Inland Pathology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Narrandera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Junee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Murrumbidgee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645152"/>
            <a:ext cx="6766560" cy="1737360"/>
          </a:xfrm>
          <a:prstGeom prst="rect">
            <a:avLst/>
          </a:prstGeom>
          <a:solidFill>
            <a:srgbClr val="F2F4F6"/>
          </a:solidFill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1D2733"/>
                </a:solidFill>
                <a:latin typeface="Calibri"/>
              </a:rPr>
              <a:t>Why Griffith and not Wagga Wagga. </a:t>
            </a:r>
            <a:r>
              <a:rPr sz="1150" b="0">
                <a:solidFill>
                  <a:srgbClr val="1D2733"/>
                </a:solidFill>
                <a:latin typeface="Calibri"/>
              </a:rPr>
              <a:t>On the extract Wagga Wagga leads, 9 cases against 1.4 expected, with Griffith on 7 against 1.4. Wagga Wagga's cases are swabbed by the hospital laboratory, which notifies almost every specimen within days of collection, so its fortnight is nearly all on file.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D2733"/>
                </a:solidFill>
                <a:latin typeface="Calibri"/>
              </a:rPr>
              <a:t>Griffith's general practices send their swabs to Inland Pathology, which notifies few specimens within the first week and only 76% within 14 days of collection (right). The fortnight's specimens are 1 to 14 days old, so at Inland Pathology's speed most of Griffith's fortnight has not been notified yet: its cases with specimens in the fortnight are several times the 7 on file, and its excess is the largest in the district. Snowy Valleys has the same 7 against 1.4, through the hospital laboratory, and is nearly all on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371600"/>
            <a:ext cx="42519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733"/>
                </a:solidFill>
                <a:latin typeface="Calibri"/>
              </a:rPr>
              <a:t>School clusters in Griffith this week (PR-07 5.1)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700784"/>
          <a:ext cx="42519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School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Banna Avenue Public School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Kooyoo Street Public School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2770632"/>
            <a:ext cx="425196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4A5563"/>
                </a:solidFill>
                <a:latin typeface="Calibri"/>
              </a:rPr>
              <a:t>These are the team's school visits this week (4.4). Two or more student cases at one school with specimens collected 5 September to 4 October; school names matched to the enrolment rosters. Staff and parents are not counted; a student notified twice is one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672584"/>
            <a:ext cx="42519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2733"/>
                </a:solidFill>
                <a:latin typeface="Calibri"/>
              </a:rPr>
              <a:t>Laboratory route speed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4A5563"/>
                </a:solidFill>
                <a:latin typeface="Calibri"/>
              </a:rPr>
              <a:t>Specimens collected August 2025 to July 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43800" y="5239512"/>
          <a:ext cx="42519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514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Laboratory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Notified within 14 days of collection</a:t>
                      </a:r>
                    </a:p>
                  </a:txBody>
                  <a:tcPr marL="54864" marR="54864" marT="18288" marB="18288" anchor="ctr">
                    <a:solidFill>
                      <a:srgbClr val="1D27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Hospital laboratory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Inland Pathology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D2733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419088"/>
            <a:ext cx="109728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4A5563"/>
                </a:solidFill>
                <a:latin typeface="Calibri"/>
              </a:rPr>
              <a:t>Source: state notifiable conditions line-list extract, 07:00 Monday 5 October 2026; PR-07 v3.1. Cases dated by first specimen, one per person per episode (3.3), areas by residential postcode (3.4). Prepared by surveillance for the Monday huddle.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45720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4A556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Response team brief, 5 October 2026</dc:title>
  <dc:creator>Tiffany Peters</dc:creator>
  <cp:lastModifiedBy>Tiffany Peters</cp:lastModifiedBy>
  <dcterms:created xsi:type="dcterms:W3CDTF">2026-10-04T20:21:00Z</dcterms:created>
  <dcterms:modified xsi:type="dcterms:W3CDTF">2026-10-04T20:46:00Z</dcterms:modified>
</cp:coreProperties>
</file>