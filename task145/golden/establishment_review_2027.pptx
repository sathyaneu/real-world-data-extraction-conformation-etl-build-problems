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0000"/>
            <a:ext cx="1127760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5130"/>
                </a:solidFill>
                <a:latin typeface="Calibri"/>
              </a:defRPr>
            </a:pPr>
            <a:r>
              <a:t>Two of the six new broker posts go to Dorval and one to Calgary; three are held to the 2028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50000"/>
          <a:ext cx="11277600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2150000"/>
                <a:gridCol w="1900000"/>
                <a:gridCol w="2400000"/>
                <a:gridCol w="2427600"/>
              </a:tblGrid>
              <a:tr h="5500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Desk</a:t>
                      </a:r>
                    </a:p>
                  </a:txBody>
                  <a:tcPr>
                    <a:solidFill>
                      <a:srgbClr val="1F51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Broker posts at 1 January 2027</a:t>
                      </a:r>
                    </a:p>
                  </a:txBody>
                  <a:tcPr>
                    <a:solidFill>
                      <a:srgbClr val="1F51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New posts placed</a:t>
                      </a:r>
                    </a:p>
                  </a:txBody>
                  <a:tcPr>
                    <a:solidFill>
                      <a:srgbClr val="1F51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Forecast 2027 formal entries, average month</a:t>
                      </a:r>
                    </a:p>
                  </a:txBody>
                  <a:tcPr>
                    <a:solidFill>
                      <a:srgbClr val="1F513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Formal entries a month per broker post after the review</a:t>
                      </a:r>
                    </a:p>
                  </a:txBody>
                  <a:tcPr>
                    <a:solidFill>
                      <a:srgbClr val="1F5130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Mississauga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3,750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535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Dorval</a:t>
                      </a:r>
                    </a:p>
                  </a:txBody>
                  <a:tcPr>
                    <a:solidFill>
                      <a:srgbClr val="E3EB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3EB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3EB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3,600</a:t>
                      </a:r>
                    </a:p>
                  </a:txBody>
                  <a:tcPr>
                    <a:solidFill>
                      <a:srgbClr val="E3EB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515</a:t>
                      </a:r>
                    </a:p>
                  </a:txBody>
                  <a:tcPr>
                    <a:solidFill>
                      <a:srgbClr val="E3EBE5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Richmond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3,100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Calgary</a:t>
                      </a:r>
                    </a:p>
                  </a:txBody>
                  <a:tcPr>
                    <a:solidFill>
                      <a:srgbClr val="E3EB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3EB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3EB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2,600</a:t>
                      </a:r>
                    </a:p>
                  </a:txBody>
                  <a:tcPr>
                    <a:solidFill>
                      <a:srgbClr val="E3EBE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520</a:t>
                      </a:r>
                    </a:p>
                  </a:txBody>
                  <a:tcPr>
                    <a:solidFill>
                      <a:srgbClr val="E3EBE5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Winnipeg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D2229"/>
                          </a:solidFill>
                          <a:latin typeface="Calibr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50000"/>
            <a:ext cx="112776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D2229"/>
                </a:solidFill>
                <a:latin typeface="Calibri"/>
              </a:defRPr>
            </a:pPr>
            <a:r>
              <a:t>Posts placed one at a time to the highest load while it exceeds the standard 560 (BRK-STD-03 4.5): Dorval, Calgary, Dorval. After three, the highest load is Mississauga at 535, so three posts are held.</a:t>
            </a:r>
          </a:p>
          <a:p>
            <a:pPr>
              <a:defRPr sz="1200">
                <a:solidFill>
                  <a:srgbClr val="5A6270"/>
                </a:solidFill>
                <a:latin typeface="Calibri"/>
              </a:defRPr>
            </a:pPr>
            <a:r>
              <a:t>Forecast on the 2027 network plan, the line at CAD 3,300: goods that keep their invoice-currency values re-routed at the plan's rates (USD 1.34, EUR 1.68); Calgary's US-dollar goods and the Chinese goods at Mississauga and Richmond keep their CAD values and their routes.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30000"/>
            <a:ext cx="108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Calibri"/>
              </a:defRPr>
            </a:pPr>
            <a:r>
              <a:t>Brokerage Workforce Planning, establishment review 2027. Sources: BRK-STD-03 rev. 4; network plan 2027; high-value check extracts October 2024 to September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00000" y="6330000"/>
            <a:ext cx="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0000"/>
            <a:ext cx="1127760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5130"/>
                </a:solidFill>
                <a:latin typeface="Calibri"/>
              </a:defRPr>
            </a:pPr>
            <a:r>
              <a:t>Mississauga worked the most overtime of the five desks in every quarter of 2025-26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00" y="1200000"/>
            <a:ext cx="10900000" cy="501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330000"/>
            <a:ext cx="108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  <a:latin typeface="Calibri"/>
              </a:defRPr>
            </a:pPr>
            <a:r>
              <a:t>Overtime at time and a half and double time, and call-backs at the time worked, on the desk each broker was assigned to that day. Source: time and attendance exports, HR assignment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0000" y="6330000"/>
            <a:ext cx="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7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Laura Parks</dc:creator>
  <cp:lastModifiedBy>Laura Parks</cp:lastModifiedBy>
  <dcterms:created xsi:type="dcterms:W3CDTF">2026-10-14T15:02:48Z</dcterms:created>
  <dcterms:modified xsi:type="dcterms:W3CDTF">2026-10-15T18:20:31Z</dcterms:modified>
</cp:coreProperties>
</file>