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9"/>
          <c:y val="0.03"/>
          <c:w val="0.86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Team-level loading</c:v>
                </c:pt>
              </c:strCache>
            </c:strRef>
          </c:tx>
          <c:dPt>
            <c:idx val="0"/>
            <c:spPr>
              <a:solidFill>
                <a:srgbClr val="C8553D"/>
              </a:solidFill>
            </c:spPr>
          </c:dPt>
          <c:dPt>
            <c:idx val="1"/>
            <c:spPr>
              <a:solidFill>
                <a:srgbClr val="C8553D"/>
              </a:solidFill>
            </c:spPr>
          </c:dPt>
          <c:dPt>
            <c:idx val="2"/>
            <c:spPr>
              <a:solidFill>
                <a:srgbClr val="1F6F6B"/>
              </a:solidFill>
            </c:spPr>
          </c:dPt>
          <c:dPt>
            <c:idx val="3"/>
            <c:spPr>
              <a:solidFill>
                <a:srgbClr val="1F6F6B"/>
              </a:solidFill>
            </c:spPr>
          </c:dPt>
          <c:dPt>
            <c:idx val="4"/>
            <c:spPr>
              <a:solidFill>
                <a:srgbClr val="1F6F6B"/>
              </a:solidFill>
            </c:spPr>
          </c:dPt>
          <c:dPt>
            <c:idx val="5"/>
            <c:spPr>
              <a:solidFill>
                <a:srgbClr val="1F6F6B"/>
              </a:solidFill>
            </c:spPr>
          </c:dPt>
          <c:dPt>
            <c:idx val="6"/>
            <c:spPr>
              <a:solidFill>
                <a:srgbClr val="1F6F6B"/>
              </a:solidFill>
            </c:spPr>
          </c:dPt>
          <c:dPt>
            <c:idx val="7"/>
            <c:spPr>
              <a:solidFill>
                <a:srgbClr val="1F6F6B"/>
              </a:solidFill>
            </c:spPr>
          </c:dPt>
          <c:dPt>
            <c:idx val="8"/>
            <c:spPr>
              <a:solidFill>
                <a:srgbClr val="1F6F6B"/>
              </a:solidFill>
            </c:spPr>
          </c:dPt>
          <c:dPt>
            <c:idx val="9"/>
            <c:spPr>
              <a:solidFill>
                <a:srgbClr val="1F6F6B"/>
              </a:solidFill>
            </c:spPr>
          </c:dPt>
          <c:dPt>
            <c:idx val="10"/>
            <c:spPr>
              <a:solidFill>
                <a:srgbClr val="1F6F6B"/>
              </a:solidFill>
            </c:spPr>
          </c:dPt>
          <c:dPt>
            <c:idx val="11"/>
            <c:spPr>
              <a:solidFill>
                <a:srgbClr val="1F6F6B"/>
              </a:solidFill>
            </c:spPr>
          </c:dPt>
          <c:cat>
            <c:strRef>
              <c:f>Sheet1!$A$2:$A$13</c:f>
              <c:strCache>
                <c:ptCount val="12"/>
                <c:pt idx="0">
                  <c:v>TC12</c:v>
                </c:pt>
                <c:pt idx="1">
                  <c:v>TC11</c:v>
                </c:pt>
                <c:pt idx="2">
                  <c:v>TC10</c:v>
                </c:pt>
                <c:pt idx="3">
                  <c:v>TC09</c:v>
                </c:pt>
                <c:pt idx="4">
                  <c:v>TC08</c:v>
                </c:pt>
                <c:pt idx="5">
                  <c:v>TC07</c:v>
                </c:pt>
                <c:pt idx="6">
                  <c:v>TC06</c:v>
                </c:pt>
                <c:pt idx="7">
                  <c:v>TC05</c:v>
                </c:pt>
                <c:pt idx="8">
                  <c:v>TC04</c:v>
                </c:pt>
                <c:pt idx="9">
                  <c:v>TC03</c:v>
                </c:pt>
                <c:pt idx="10">
                  <c:v>TC02</c:v>
                </c:pt>
                <c:pt idx="11">
                  <c:v>TC01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-0.02</c:v>
                </c:pt>
                <c:pt idx="1">
                  <c:v>-0.02</c:v>
                </c:pt>
                <c:pt idx="2">
                  <c:v>0.91</c:v>
                </c:pt>
                <c:pt idx="3">
                  <c:v>0.94</c:v>
                </c:pt>
                <c:pt idx="4">
                  <c:v>0.9</c:v>
                </c:pt>
                <c:pt idx="5">
                  <c:v>0.92</c:v>
                </c:pt>
                <c:pt idx="6">
                  <c:v>0.9</c:v>
                </c:pt>
                <c:pt idx="7">
                  <c:v>0.92</c:v>
                </c:pt>
                <c:pt idx="8">
                  <c:v>0.9</c:v>
                </c:pt>
                <c:pt idx="9">
                  <c:v>0.89</c:v>
                </c:pt>
                <c:pt idx="10">
                  <c:v>0.92</c:v>
                </c:pt>
                <c:pt idx="11">
                  <c:v>0.91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-0.25"/>
        </c:scaling>
        <c:delete val="0"/>
        <c:axPos val="b"/>
        <c:majorGridlines>
          <c:spPr>
            <a:ln>
              <a:solidFill>
                <a:srgbClr val="DDE3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crossAx val="-2068027336"/>
        <c:crosses val="autoZero"/>
        <c:majorUnit val="0.25"/>
      </c:valAx>
    </c:plotArea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303A"/>
                </a:solidFill>
              </a:rPr>
              <a:t>Ten Team Climate Index items stay for 2028; TC11 and TC12 are withdrawn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4525C"/>
                </a:solidFill>
              </a:rPr>
              <a:t>At team level TC11 and TC12 load -0.02 and -0.02, nowhere near the standard's 0.75 line; the other ten items, the two team-practice items included, all load well above it.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78638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6666707" y="1783080"/>
            <a:ext cx="0" cy="4023360"/>
          </a:xfrm>
          <a:prstGeom prst="line">
            <a:avLst/>
          </a:prstGeom>
          <a:ln w="22225">
            <a:solidFill>
              <a:srgbClr val="2230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3747" y="16002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/>
              <a:t>Standard's line 0.75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6F6B"/>
                </a:solidFill>
              </a:rPr>
              <a:t>Stay for 2028</a:t>
            </a:r>
          </a:p>
          <a:p>
            <a:pPr>
              <a:spcAft>
                <a:spcPts val="1000"/>
              </a:spcAft>
            </a:pPr>
            <a:r>
              <a:rPr sz="1200"/>
              <a:t>TC01, TC02, TC03, TC04, TC05, TC06, TC07, TC08, TC09, TC10</a:t>
            </a:r>
          </a:p>
          <a:p>
            <a:r>
              <a:rPr b="1" sz="1400">
                <a:solidFill>
                  <a:srgbClr val="C8553D"/>
                </a:solidFill>
              </a:rPr>
              <a:t>Withdraw</a:t>
            </a:r>
          </a:p>
          <a:p>
            <a:pPr>
              <a:spcAft>
                <a:spcPts val="1000"/>
              </a:spcAft>
            </a:pPr>
            <a:r>
              <a:rPr sz="1200"/>
              <a:t>TC11, TC12</a:t>
            </a:r>
          </a:p>
          <a:p>
            <a:r>
              <a:rPr b="1" sz="1400">
                <a:solidFill>
                  <a:srgbClr val="22303A"/>
                </a:solidFill>
              </a:rPr>
              <a:t>Check</a:t>
            </a:r>
          </a:p>
          <a:p>
            <a:pPr>
              <a:spcAft>
                <a:spcPts val="1000"/>
              </a:spcAft>
            </a:pPr>
            <a:r>
              <a:rPr sz="1200"/>
              <a:t>1,016 teams with five or more returns, 8,323 returns answering all twelve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B666D"/>
                </a:solidFill>
              </a:rPr>
              <a:t>Team-level loading: one factor fitted to the items' between-team correlations, the members' own covariance taken out (WI-SV-03 section 4). Source: Workforce Insight, Staff Voice 2027 structure check.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Lowfirth Parcels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Climate Index items for 2028</dc:title>
  <dc:creator>Lowfirth Parcels</dc:creator>
  <cp:lastModifiedBy>Lowfirth Parcels</cp:lastModifiedBy>
  <cp:revision>1</cp:revision>
  <dcterms:created xsi:type="dcterms:W3CDTF">2027-11-19T11:10:00Z</dcterms:created>
  <dcterms:modified xsi:type="dcterms:W3CDTF">2027-11-19T16:05:00Z</dcterms:modified>
</cp:coreProperties>
</file>