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Notified to 30 September 2026</c:v>
                </c:pt>
              </c:strCache>
            </c:strRef>
          </c:tx>
          <c:spPr>
            <a:solidFill>
              <a:srgbClr val="1F4E5A"/>
            </a:solidFill>
          </c:spPr>
          <c:cat>
            <c:strRef>
              <c:f>Sheet1!$A$2:$A$6</c:f>
              <c:strCache>
                <c:ptCount val="5"/>
                <c:pt idx="0">
                  <c:v>Mersey</c:v>
                </c:pt>
                <c:pt idx="1">
                  <c:v>Pennine</c:v>
                </c:pt>
                <c:pt idx="2">
                  <c:v>Severn</c:v>
                </c:pt>
                <c:pt idx="3">
                  <c:v>Wessex</c:v>
                </c:pt>
                <c:pt idx="4">
                  <c:v>Fenland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8.55</c:v>
                </c:pt>
                <c:pt idx="1">
                  <c:v>7.37</c:v>
                </c:pt>
                <c:pt idx="2">
                  <c:v>7.86</c:v>
                </c:pt>
                <c:pt idx="3">
                  <c:v>7.04</c:v>
                </c:pt>
                <c:pt idx="4">
                  <c:v>5.74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yet notified (estimated)</c:v>
                </c:pt>
              </c:strCache>
            </c:strRef>
          </c:tx>
          <c:spPr>
            <a:solidFill>
              <a:srgbClr val="9AA9B0"/>
            </a:solidFill>
          </c:spPr>
          <c:cat>
            <c:strRef>
              <c:f>Sheet1!$A$2:$A$6</c:f>
              <c:strCache>
                <c:ptCount val="5"/>
                <c:pt idx="0">
                  <c:v>Mersey</c:v>
                </c:pt>
                <c:pt idx="1">
                  <c:v>Pennine</c:v>
                </c:pt>
                <c:pt idx="2">
                  <c:v>Severn</c:v>
                </c:pt>
                <c:pt idx="3">
                  <c:v>Wessex</c:v>
                </c:pt>
                <c:pt idx="4">
                  <c:v>Fenland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0.35</c:v>
                </c:pt>
                <c:pt idx="1">
                  <c:v>0.83</c:v>
                </c:pt>
                <c:pt idx="2">
                  <c:v>0.15</c:v>
                </c:pt>
                <c:pt idx="3">
                  <c:v>0.27</c:v>
                </c:pt>
                <c:pt idx="4">
                  <c:v>0.14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4E5A"/>
                </a:solidFill>
                <a:latin typeface="Arial"/>
              </a:defRPr>
            </a:pPr>
            <a:r>
              <a:t>Mersey and Pennine host the 2027 telematics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00000"/>
            <a:ext cx="11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2327"/>
                </a:solidFill>
                <a:latin typeface="Arial"/>
              </a:defRPr>
            </a:pPr>
            <a:r>
              <a:t>Their private cars had the highest claim frequency in accident year 2025: 8.9 and 8.2 claims per 100 car-years, against 8.0 in Severn, the next region.</a:t>
            </a:r>
          </a:p>
          <a:p>
            <a:pPr>
              <a:defRPr sz="1600" b="0">
                <a:solidFill>
                  <a:srgbClr val="1D2327"/>
                </a:solidFill>
                <a:latin typeface="Arial"/>
              </a:defRPr>
            </a:pPr>
            <a:r>
              <a:t>Paper for Damian Warren, Chief Underwriting Officer, 13 November 2026. Carol Thorpe, motor portfolio actuary.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Corriven Insurance, telematics pilot 2027, 13 November 2026. Claims extract to 30 September 2026; pricing mart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0" y="64008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5A"/>
                </a:solidFill>
                <a:latin typeface="Arial"/>
              </a:defRPr>
            </a:pPr>
            <a:r>
              <a:t>Pennine is second once the 2025 claims still to come are counted by who notifies them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00000"/>
          <a:ext cx="7000000" cy="4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00000" y="1500000"/>
            <a:ext cx="4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Claims per 100 car-years, accident year 2025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Mersey  8.9  (pilot)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Pennine  8.2  (pilot)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Severn  8.0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Wessex  7.3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Fenland  5.9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Gap, Pennine to Severn: 0.2</a:t>
            </a: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</a:p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Claims-management companies notify injury claims months and years after the accident, and Pennine's 2025 injury claims came through them far more often than in earlier years: 10 per cent of its 2025 claims are still to come, against 2 to 4 per cent in the other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Corriven Insurance, telematics pilot 2027, 13 November 2026. Claims extract to 30 September 2026; pricing mart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5A"/>
                </a:solidFill>
                <a:latin typeface="Arial"/>
              </a:defRPr>
            </a:pPr>
            <a:r>
              <a:t>Only the development by notifying route reproduces 2022 within the Standard's two per cent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00000"/>
          <a:ext cx="11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2800000"/>
                <a:gridCol w="2800000"/>
              </a:tblGrid>
              <a:tr h="466666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Development of the claims not yet notified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Largest 2022 miss (region)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Pennine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Severn 2025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Whole book, pooled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-8.54 per cent (Wessex)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8.1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By head of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-7.85 per cent (Wessex)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8.1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By notified-by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-6.78 per cent (Wessex)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8.1</a:t>
                      </a:r>
                    </a:p>
                  </a:txBody>
                  <a:tcPr/>
                </a:tc>
              </a:tr>
              <a:tr h="466666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By representative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-8.63 per cent (Wessex)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</a:tr>
              <a:tr h="46667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By notifying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-1.09 per cent (Wessex)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00000"/>
            <a:ext cx="112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D2327"/>
                </a:solidFill>
                <a:latin typeface="Arial"/>
              </a:defRPr>
            </a:pPr>
            <a:r>
              <a:t>Re-run on accident year 2022 from 30 September 2023 with 2019 to 2021, as the Standard (3.3) requires. Wessex had a wave of claims-management injury claims in 2022; every development that blends those firms with faster notifiers falls short there, and each of them would have put Severn in the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Corriven Insurance, telematics pilot 2027, 13 November 2026. Claims extract to 30 September 2026; pricing mart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5A"/>
                </a:solidFill>
                <a:latin typeface="Arial"/>
              </a:defRPr>
            </a:pPr>
            <a:r>
              <a:t>The Brackwell order: private cars on cover at 30 September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00000"/>
          <a:ext cx="80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600000"/>
                <a:gridCol w="1600000"/>
                <a:gridCol w="1600000"/>
                <a:gridCol w="1600000"/>
              </a:tblGrid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Sales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TPFT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TPO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All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Mersey (pilot)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44,743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11,434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61,102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Pennine (pilot)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30,213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7,051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40,095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Wessex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30,001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5,746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2,037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37,784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Fenland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19,421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3,243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23,667</a:t>
                      </a:r>
                    </a:p>
                  </a:txBody>
                  <a:tcPr/>
                </a:tc>
              </a:tr>
              <a:tr h="457142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Severn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36,590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2,919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46,957</a:t>
                      </a:r>
                    </a:p>
                  </a:txBody>
                  <a:tcPr/>
                </a:tc>
              </a:tr>
              <a:tr h="457148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160,968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34,922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13,715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209,605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800000" y="1500000"/>
            <a:ext cx="29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D2327"/>
                </a:solidFill>
                <a:latin typeface="Arial"/>
              </a:defRPr>
            </a:pPr>
            <a:r>
              <a:t>Region and cover as they stood on 30 September, after the mid-term address and cover changes effective by then. The order is placed by cover because each cover has its own discount scale (terms 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Corriven Insurance, telematics pilot 2027, 13 November 2026. Claims extract to 30 September 2026; pricing mart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0" y="6400800"/>
            <a:ext cx="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AA9B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Telematics pilot 2027</dc:title>
  <dc:creator>Carol Thorpe</dc:creator>
  <cp:lastModifiedBy>Carol Thorpe</cp:lastModifiedBy>
  <dcterms:created xsi:type="dcterms:W3CDTF">2026-10-13T09:31:02Z</dcterms:created>
  <dcterms:modified xsi:type="dcterms:W3CDTF">2026-10-14T16:02:37Z</dcterms:modified>
</cp:coreProperties>
</file>