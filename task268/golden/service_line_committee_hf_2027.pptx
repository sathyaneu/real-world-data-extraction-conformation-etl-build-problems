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Two-year survival (%)</c:v>
                </c:pt>
              </c:strCache>
            </c:strRef>
          </c:tx>
          <c:dPt>
            <c:idx val="0"/>
            <c:spPr>
              <a:solidFill>
                <a:srgbClr val="B24A16"/>
              </a:solidFill>
            </c:spPr>
          </c:dPt>
          <c:dPt>
            <c:idx val="1"/>
            <c:spPr>
              <a:solidFill>
                <a:srgbClr val="0E5A6E"/>
              </a:solidFill>
            </c:spPr>
          </c:dPt>
          <c:dPt>
            <c:idx val="2"/>
            <c:spPr>
              <a:solidFill>
                <a:srgbClr val="0E5A6E"/>
              </a:solidFill>
            </c:spPr>
          </c:dPt>
          <c:dPt>
            <c:idx val="3"/>
            <c:spPr>
              <a:solidFill>
                <a:srgbClr val="0E5A6E"/>
              </a:solidFill>
            </c:spPr>
          </c:dPt>
          <c:dPt>
            <c:idx val="4"/>
            <c:spPr>
              <a:solidFill>
                <a:srgbClr val="0E5A6E"/>
              </a:solidFill>
            </c:spPr>
          </c:dPt>
          <c:cat>
            <c:strRef>
              <c:f>Sheet1!$A$2:$A$6</c:f>
              <c:strCache>
                <c:ptCount val="5"/>
                <c:pt idx="0">
                  <c:v>Gullhaven</c:v>
                </c:pt>
                <c:pt idx="1">
                  <c:v>Fennick</c:v>
                </c:pt>
                <c:pt idx="2">
                  <c:v>Wrenhaven</c:v>
                </c:pt>
                <c:pt idx="3">
                  <c:v>Brenmoor</c:v>
                </c:pt>
                <c:pt idx="4">
                  <c:v>Linmoor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61</c:v>
                </c:pt>
                <c:pt idx="2">
                  <c:v>64</c:v>
                </c:pt>
                <c:pt idx="3">
                  <c:v>66</c:v>
                </c:pt>
                <c:pt idx="4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DE2E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50000"/>
            <a:ext cx="11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B24A16"/>
                </a:solidFill>
                <a:latin typeface="Calibri"/>
              </a:defRPr>
            </a:pPr>
            <a:r>
              <a:t>Host the 2027 programme at Gullhaven Hospital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50000"/>
            <a:ext cx="11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C2428"/>
                </a:solidFill>
                <a:latin typeface="Calibri"/>
              </a:defRPr>
            </a:pPr>
            <a:r>
              <a:t>Its patients newly diagnosed with heart failure in 2022 and 2023 had a two-year survival of 58%, the lowest of our five hospitals and 3 points below Fennick General Hospital's 61%.</a:t>
            </a:r>
          </a:p>
          <a:p>
            <a:pPr>
              <a:defRPr sz="1400">
                <a:solidFill>
                  <a:srgbClr val="5A646B"/>
                </a:solidFill>
              </a:defRPr>
            </a:pPr>
            <a:r>
              <a:t>Charter, section 3: the programme goes to the hospital whose newly diagnosed patients had the lowest two-year survival from diagnosis, every patient counted, those the registry no longer follows included.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250000"/>
          <a:ext cx="11200000" cy="9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0000"/>
                <a:gridCol w="1568000"/>
                <a:gridCol w="1568000"/>
                <a:gridCol w="1568000"/>
                <a:gridCol w="1568000"/>
                <a:gridCol w="1568000"/>
              </a:tblGrid>
              <a:tr h="45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Hospital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Gullhaven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Fennick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Wrenhaven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Brenmoor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Linmoor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Two-year survival, 2022-23 diagnoses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46B"/>
                </a:solidFill>
                <a:latin typeface="Calibri"/>
              </a:defRPr>
            </a:pPr>
            <a:r>
              <a:t>Heart and vascular outcomes | Service line committee, May 2026 | Source: Heronmere Heart Failure Registry, extract of 31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4008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46B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428"/>
                </a:solidFill>
                <a:latin typeface="Calibri"/>
              </a:defRPr>
            </a:pPr>
            <a:r>
              <a:t>Gullhaven's patients have the lowest two-year survival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A646B"/>
                </a:solidFill>
                <a:latin typeface="Calibri"/>
              </a:defRPr>
            </a:pPr>
            <a:r>
              <a:t>Two-year survival from diagnosis, patients newly diagnosed with heart failure in 2022 and 2023, per cent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00000"/>
          <a:ext cx="11200000" cy="4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46B"/>
                </a:solidFill>
                <a:latin typeface="Calibri"/>
              </a:defRPr>
            </a:pPr>
            <a:r>
              <a:t>Heart and vascular outcomes | Service line committee, May 2026 | Source: Heronmere Heart Failure Registry; Florida death certificate linkage; Tri-State exchange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4008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46B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428"/>
                </a:solidFill>
                <a:latin typeface="Calibri"/>
              </a:defRPr>
            </a:pPr>
            <a:r>
              <a:t>At Gullhaven the patients who moved north had worsened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0000"/>
            <a:ext cx="112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C2428"/>
                </a:solidFill>
                <a:latin typeface="Calibri"/>
              </a:defRPr>
            </a:pPr>
            <a:r>
              <a:t>612 of Gullhaven's 2,996 patients moved beyond the registry's death linkage within two years of diagnosis; 581 of them were in NYHA class III or IV at the visit where they told the clinic.</a:t>
            </a:r>
          </a:p>
          <a:p>
            <a:pPr>
              <a:spcBef>
                <a:spcPts val="1000"/>
              </a:spcBef>
              <a:defRPr sz="1600"/>
            </a:pPr>
            <a:r>
              <a:t>Counting those moves as ordinary losses puts Gullhaven's survival at 62%, as if the movers fared like the patients who stayed. Weighted by the class at each visit it is 58%.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450000"/>
          <a:ext cx="11200000" cy="2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2000"/>
                <a:gridCol w="2240000"/>
                <a:gridCol w="2800000"/>
                <a:gridCol w="2688000"/>
              </a:tblGrid>
              <a:tr h="40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NYHA class at the visit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Visits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Moves beyond the linkage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Chance of moving at the visit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2,258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II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5,576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III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4,409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IV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3,581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564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15.7%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46B"/>
                </a:solidFill>
                <a:latin typeface="Calibri"/>
              </a:defRPr>
            </a:pPr>
            <a:r>
              <a:t>Heart and vascular outcomes | Service line committee, May 2026 | Source: Heronmere Heart Failure Registry, clinic visits and follow-up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4008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46B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2428"/>
                </a:solidFill>
                <a:latin typeface="Calibri"/>
              </a:defRPr>
            </a:pPr>
            <a:r>
              <a:t>Testing and new diagnoses,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00000"/>
          <a:ext cx="11200000" cy="2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84000"/>
                <a:gridCol w="1904000"/>
                <a:gridCol w="1904000"/>
                <a:gridCol w="1904000"/>
                <a:gridCol w="1904000"/>
              </a:tblGrid>
              <a:tr h="43333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Hospital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NT-proBNP specimens reported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 or above 400 pg/mL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Newly diagnosed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Diagnosed as inpatients</a:t>
                      </a:r>
                    </a:p>
                  </a:txBody>
                  <a:tcPr>
                    <a:solidFill>
                      <a:srgbClr val="1F4E5C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Fennick General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10,421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6,834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Linmoor Hospital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8,109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5,120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790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456</a:t>
                      </a:r>
                    </a:p>
                  </a:txBody>
                  <a:tcPr>
                    <a:solidFill>
                      <a:srgbClr val="F2F5F6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Brenmoor Regional Medical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8,880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5,838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333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Gullhaven Hospital</a:t>
                      </a:r>
                    </a:p>
                  </a:txBody>
                  <a:tcPr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11,694</a:t>
                      </a:r>
                    </a:p>
                  </a:txBody>
                  <a:tcPr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7,524</a:t>
                      </a:r>
                    </a:p>
                  </a:txBody>
                  <a:tcPr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1,555</a:t>
                      </a:r>
                    </a:p>
                  </a:txBody>
                  <a:tcPr>
                    <a:solidFill>
                      <a:srgbClr val="FBE7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897</a:t>
                      </a:r>
                    </a:p>
                  </a:txBody>
                  <a:tcPr>
                    <a:solidFill>
                      <a:srgbClr val="FBE7D6"/>
                    </a:solidFill>
                  </a:tcPr>
                </a:tc>
              </a:tr>
              <a:tr h="43333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Wrenhaven Medical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9,412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6,186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C2428"/>
                          </a:solidFill>
                          <a:latin typeface="Calibri"/>
                        </a:defRPr>
                      </a:pPr>
                      <a:r>
                        <a:t>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00000"/>
            <a:ext cx="11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A646B"/>
                </a:solidFill>
                <a:latin typeface="Calibri"/>
              </a:defRPr>
            </a:pPr>
            <a:r>
              <a:t>Specimens: each once, a corrected result released under a new accession being the same specimen. New diagnoses: by diagnosis date, a record dated after its own enrolment taken at the enrolment; a patient enrolled again after the 2024 record-number migration is not counted.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46B"/>
                </a:solidFill>
                <a:latin typeface="Calibri"/>
              </a:defRPr>
            </a:pPr>
            <a:r>
              <a:t>Heart and vascular outcomes | Service line committee, May 2026 | Source: laboratory results 2025; Heronmere Heart Failure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4008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46B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HF early diagnosis programme: host hospital</dc:title>
  <dc:creator>Louis Harrington</dc:creator>
  <cp:lastModifiedBy>Megan Swanson</cp:lastModifiedBy>
  <dcterms:created xsi:type="dcterms:W3CDTF">2026-04-30T14:22:19Z</dcterms:created>
  <dcterms:modified xsi:type="dcterms:W3CDTF">2026-05-06T22:47:55Z</dcterms:modified>
</cp:coreProperties>
</file>