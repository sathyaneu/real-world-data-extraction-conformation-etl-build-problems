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Overlays, the new overlay included</c:v>
                </c:pt>
              </c:strCache>
            </c:strRef>
          </c:tx>
          <c:spPr>
            <a:solidFill>
              <a:srgbClr val="1F4E5F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Sheet1!$B$2:$B$5</c:f>
              <c:numCache>
                <c:formatCode>#,##0.0</c:formatCode>
                <c:ptCount val="4"/>
                <c:pt idx="0">
                  <c:v>3127.8</c:v>
                </c:pt>
                <c:pt idx="1">
                  <c:v>3114.3</c:v>
                </c:pt>
                <c:pt idx="2">
                  <c:v>3101.2</c:v>
                </c:pt>
                <c:pt idx="3">
                  <c:v>3088.4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Funding hedges</c:v>
                </c:pt>
              </c:strCache>
            </c:strRef>
          </c:tx>
          <c:spPr>
            <a:solidFill>
              <a:srgbClr val="8AA8B8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Sheet1!$C$2:$C$5</c:f>
              <c:numCache>
                <c:formatCode>#,##0.0</c:formatCode>
                <c:ptCount val="4"/>
                <c:pt idx="0">
                  <c:v>437.5</c:v>
                </c:pt>
                <c:pt idx="1">
                  <c:v>437.5</c:v>
                </c:pt>
                <c:pt idx="2">
                  <c:v>537.5</c:v>
                </c:pt>
                <c:pt idx="3">
                  <c:v>537.5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Loan hedges</c:v>
                </c:pt>
              </c:strCache>
            </c:strRef>
          </c:tx>
          <c:spPr>
            <a:solidFill>
              <a:srgbClr val="C98B3B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Sheet1!$D$2:$D$5</c:f>
              <c:numCache>
                <c:formatCode>#,##0.0</c:formatCode>
                <c:ptCount val="4"/>
                <c:pt idx="0">
                  <c:v>2047.5</c:v>
                </c:pt>
                <c:pt idx="1">
                  <c:v>1647.5</c:v>
                </c:pt>
                <c:pt idx="2">
                  <c:v>1313.2</c:v>
                </c:pt>
                <c:pt idx="3">
                  <c:v>1313.2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3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200"/>
                </a:pPr>
                <a:r>
                  <a:t>$ millions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F4E5F"/>
                </a:solidFill>
                <a:latin typeface="Calibri"/>
              </a:defRPr>
            </a:pPr>
            <a:r>
              <a:t>Designate the $1.2 billion overlay against fixed-rate commercial real estate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D232A"/>
                </a:solidFill>
                <a:latin typeface="Calibri"/>
              </a:defRPr>
            </a:pPr>
            <a:r>
              <a:t>Averaged +200 bp loss in economic value over the month-ends of 2027: $150 million (to the nearest $10 million)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About $4.7 billion of the pool's balloons fall due from December 2026 to December 2027, most of them written in the early-2022 push. At the planning cycle's 6.95 per cent the push's cash-out loans, sized at full leverage on pro forma rents, cannot carry a new loan of their balance; about three-fifths of that principal is expected to extend for 36 months at its note rate.</a:t>
            </a:r>
          </a:p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Agency MBS is next, at about $110 million.</a:t>
            </a:r>
          </a:p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The 2023-24 mortgages lose most at last year's prepayment speed, but at 6.25 per cent they are expected to prepay about 30 per cent a year in 2027.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49440" y="2148840"/>
          <a:ext cx="4663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05840"/>
              </a:tblGrid>
              <a:tr h="39624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Principal, $ bn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Loss, $ m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Fixed-rate commercial real estate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5.29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150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Agency MBS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2023-24 residential mortgages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Treasury ladder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Indirect auto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4617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A626B"/>
                </a:solidFill>
                <a:latin typeface="Calibri"/>
              </a:defRPr>
            </a:pPr>
            <a:r>
              <a:t>Losses to the nearest $10 million; principal at 30 November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5A626B"/>
                </a:solidFill>
                <a:latin typeface="Calibri"/>
              </a:defRPr>
            </a:pPr>
            <a:r>
              <a:t>$1.2 billion pay-fixed for four years: trades Tuesday 15 December 2026, starts Monday 4 January 2027.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Source: ALM analysis of positions at 30 November 2026; hedging policy section 3; 2027 planning cycle, base case.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1F4E5F"/>
                </a:solidFill>
                <a:latin typeface="Calibri"/>
              </a:defRPr>
            </a:pPr>
            <a:r>
              <a:t>The programme's notional runs from $5.6 billion to $4.9 billion through 2027 as loan hedges mature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143000"/>
          <a:ext cx="1088136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Source: treasury system swap register, amortization schedules and clearing statement at 30 November 2026; the new overlay included from 4 January 2027.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Guy Morrison</dc:creator>
  <cp:lastModifiedBy>Guy Morrison</cp:lastModifiedBy>
  <dcterms:created xsi:type="dcterms:W3CDTF">2026-12-07T15:02:00Z</dcterms:created>
  <dcterms:modified xsi:type="dcterms:W3CDTF">2026-12-11T22:05:00Z</dcterms:modified>
</cp:coreProperties>
</file>