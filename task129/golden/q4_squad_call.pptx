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Mobile views a month</c:v>
                </c:pt>
              </c:strCache>
            </c:strRef>
          </c:tx>
          <c:spPr>
            <a:solidFill>
              <a:srgbClr val="9AA9B8"/>
            </a:solidFill>
          </c:spPr>
          <c:dPt>
            <c:idx val="4"/>
            <c:spPr>
              <a:solidFill>
                <a:srgbClr val="1F4E79"/>
              </a:solidFill>
            </c:spPr>
          </c:dPt>
          <c:cat>
            <c:strRef>
              <c:f>Sheet1!$A$2:$A$6</c:f>
              <c:strCache>
                <c:ptCount val="5"/>
                <c:pt idx="0">
                  <c:v>Brand web fonts</c:v>
                </c:pt>
                <c:pt idx="1">
                  <c:v>Image pipeline</c:v>
                </c:pt>
                <c:pt idx="2">
                  <c:v>Consent banner</c:v>
                </c:pt>
                <c:pt idx="3">
                  <c:v>Header-bidding ad stack</c:v>
                </c:pt>
                <c:pt idx="4">
                  <c:v>Bølge front end</c:v>
                </c:pt>
              </c:strCache>
            </c:strRef>
          </c:cat>
          <c:val>
            <c:numRef>
              <c:f>Sheet1!$B$2:$B$6</c:f>
              <c:numCache>
                <c:formatCode>General</c:formatCode>
                <c:ptCount val="5"/>
                <c:pt idx="0">
                  <c:v>270000</c:v>
                </c:pt>
                <c:pt idx="1">
                  <c:v>330000</c:v>
                </c:pt>
                <c:pt idx="2">
                  <c:v>430000</c:v>
                </c:pt>
                <c:pt idx="3">
                  <c:v>610000</c:v>
                </c:pt>
                <c:pt idx="4">
                  <c:v>1460000</c:v>
                </c:pt>
              </c:numCache>
            </c:numRef>
          </c:val>
        </c:ser>
        <c:dLbls>
          <c:numFmt formatCode="#,##0" sourceLinked="0"/>
          <c:txPr>
            <a:bodyPr/>
            <a:lstStyle/>
            <a:p>
              <a:pPr>
                <a:defRPr sz="11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numFmt formatCode="#,##0" sourceLinked="0"/>
        <c:majorTickMark val="out"/>
        <c:minorTickMark val="none"/>
        <c:tickLblPos val="nextTo"/>
        <c:txPr>
          <a:bodyPr/>
          <a:lstStyle/>
          <a:p>
            <a:pPr>
              <a:defRPr sz="1000"/>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40080"/>
            <a:ext cx="10972800" cy="5303520"/>
          </a:xfrm>
          <a:prstGeom prst="rect">
            <a:avLst/>
          </a:prstGeom>
          <a:noFill/>
        </p:spPr>
        <p:txBody>
          <a:bodyPr wrap="square">
            <a:spAutoFit/>
          </a:bodyPr>
          <a:lstStyle/>
          <a:p>
            <a:r>
              <a:rPr sz="3400" b="1"/>
              <a:t>Q4 squad: fix the Bølge front end</a:t>
            </a:r>
          </a:p>
          <a:p>
            <a:pPr>
              <a:spcBef>
                <a:spcPts val="1400"/>
              </a:spcBef>
            </a:pPr>
            <a:r>
              <a:rPr sz="2000"/>
              <a:t>Fixing it brings back about 1,460,000 mobile views a month under the line at August's traffic. The closest other change, the header-bidding ad stack, would bring back about 610,000.</a:t>
            </a:r>
          </a:p>
          <a:p>
            <a:pPr>
              <a:spcBef>
                <a:spcPts val="1800"/>
              </a:spcBef>
            </a:pPr>
            <a:r>
              <a:rPr sz="1500"/>
              <a:t>Read by phone class alone, the ad stack comes first. The front end costs a view mostly on a device's first view after a release-train deploy and the ad stack mostly on its later views, and first views are three quarters of the ad-supported views but about a quarter of the puzzles and subscriber views the two are measured on, so each is carried within phone class and first or later view.</a:t>
            </a:r>
          </a:p>
          <a:p>
            <a:pPr>
              <a:spcBef>
                <a:spcPts val="1800"/>
              </a:spcBef>
            </a:pPr>
            <a:r>
              <a:rPr sz="1300">
                <a:solidFill>
                  <a:srgbClr val="555555"/>
                </a:solidFill>
              </a:rPr>
              <a:t>Each change valued on the scored mobile views it acts on at August's traffic (service level v3, section 4). The front end and the ad stack switched on together, template group by template group; the puzzles pages carry the ad stack alone from 24 June and subscribers' ad-free views the front end alone from 30 June.</a:t>
            </a:r>
          </a:p>
        </p:txBody>
      </p:sp>
      <p:sp>
        <p:nvSpPr>
          <p:cNvPr id="3" name="TextBox 2"/>
          <p:cNvSpPr txBox="1"/>
          <p:nvPr/>
        </p:nvSpPr>
        <p:spPr>
          <a:xfrm>
            <a:off x="548640" y="6355080"/>
            <a:ext cx="9875520" cy="320040"/>
          </a:xfrm>
          <a:prstGeom prst="rect">
            <a:avLst/>
          </a:prstGeom>
          <a:noFill/>
        </p:spPr>
        <p:txBody>
          <a:bodyPr wrap="none">
            <a:spAutoFit/>
          </a:bodyPr>
          <a:lstStyle/>
          <a:p>
            <a:r>
              <a:rPr sz="900">
                <a:solidFill>
                  <a:srgbClr val="777777"/>
                </a:solidFill>
              </a:rPr>
              <a:t>Digital operations, quarterly service review of 17 September 2026. Field data: RUM beacon export, 1 February to 31 August 2026; release train log; Bølge rollout log.</a:t>
            </a:r>
          </a:p>
        </p:txBody>
      </p:sp>
      <p:sp>
        <p:nvSpPr>
          <p:cNvPr id="4" name="TextBox 3"/>
          <p:cNvSpPr txBox="1"/>
          <p:nvPr/>
        </p:nvSpPr>
        <p:spPr>
          <a:xfrm>
            <a:off x="11247120" y="6355080"/>
            <a:ext cx="457200" cy="320040"/>
          </a:xfrm>
          <a:prstGeom prst="rect">
            <a:avLst/>
          </a:prstGeom>
          <a:noFill/>
        </p:spPr>
        <p:txBody>
          <a:bodyPr wrap="none">
            <a:spAutoFit/>
          </a:bodyPr>
          <a:lstStyle/>
          <a:p>
            <a:r>
              <a:rPr sz="900">
                <a:solidFill>
                  <a:srgbClr val="777777"/>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none">
            <a:spAutoFit/>
          </a:bodyPr>
          <a:lstStyle/>
          <a:p>
            <a:r>
              <a:rPr sz="2200" b="1"/>
              <a:t>Fixing the front end brings back more views than any other change</a:t>
            </a:r>
          </a:p>
          <a:p>
            <a:r>
              <a:rPr sz="1300">
                <a:solidFill>
                  <a:srgbClr val="555555"/>
                </a:solidFill>
              </a:rPr>
              <a:t>Mobile views a month back under the line at August 2026 traffic, nearest ten thousand</a:t>
            </a:r>
          </a:p>
        </p:txBody>
      </p:sp>
      <p:graphicFrame>
        <p:nvGraphicFramePr>
          <p:cNvPr id="3" name="Chart 2"/>
          <p:cNvGraphicFramePr>
            <a:graphicFrameLocks noGrp="1"/>
          </p:cNvGraphicFramePr>
          <p:nvPr/>
        </p:nvGraphicFramePr>
        <p:xfrm>
          <a:off x="548640" y="1325880"/>
          <a:ext cx="10972800" cy="4846320"/>
        </p:xfrm>
        <a:graphic>
          <a:graphicData uri="http://schemas.openxmlformats.org/drawingml/2006/chart">
            <c:chart xmlns:c="http://schemas.openxmlformats.org/drawingml/2006/chart" r:id="rId2"/>
          </a:graphicData>
        </a:graphic>
      </p:graphicFrame>
      <p:sp>
        <p:nvSpPr>
          <p:cNvPr id="4" name="TextBox 3"/>
          <p:cNvSpPr txBox="1"/>
          <p:nvPr/>
        </p:nvSpPr>
        <p:spPr>
          <a:xfrm>
            <a:off x="548640" y="6355080"/>
            <a:ext cx="9875520" cy="320040"/>
          </a:xfrm>
          <a:prstGeom prst="rect">
            <a:avLst/>
          </a:prstGeom>
          <a:noFill/>
        </p:spPr>
        <p:txBody>
          <a:bodyPr wrap="none">
            <a:spAutoFit/>
          </a:bodyPr>
          <a:lstStyle/>
          <a:p>
            <a:r>
              <a:rPr sz="900">
                <a:solidFill>
                  <a:srgbClr val="777777"/>
                </a:solidFill>
              </a:rPr>
              <a:t>Digital operations, quarterly service review of 17 September 2026. Field data: RUM beacon export, 1 February to 31 August 2026; release train log; Bølge rollout log.</a:t>
            </a:r>
          </a:p>
        </p:txBody>
      </p:sp>
      <p:sp>
        <p:nvSpPr>
          <p:cNvPr id="5" name="TextBox 4"/>
          <p:cNvSpPr txBox="1"/>
          <p:nvPr/>
        </p:nvSpPr>
        <p:spPr>
          <a:xfrm>
            <a:off x="11247120" y="6355080"/>
            <a:ext cx="457200" cy="320040"/>
          </a:xfrm>
          <a:prstGeom prst="rect">
            <a:avLst/>
          </a:prstGeom>
          <a:noFill/>
        </p:spPr>
        <p:txBody>
          <a:bodyPr wrap="none">
            <a:spAutoFit/>
          </a:bodyPr>
          <a:lstStyle/>
          <a:p>
            <a:r>
              <a:rPr sz="900">
                <a:solidFill>
                  <a:srgbClr val="777777"/>
                </a:solidFill>
              </a:rPr>
              <a:t>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Q4 squad call</dc:title>
  <dc:subject/>
  <dc:creator>Elin Lauritsen</dc:creator>
  <cp:keywords/>
  <dc:description>generated using python-pptx</dc:description>
  <cp:lastModifiedBy>Elin Lauritsen</cp:lastModifiedBy>
  <cp:revision>2</cp:revision>
  <dcterms:created xsi:type="dcterms:W3CDTF">2026-09-11T08:40:00Z</dcterms:created>
  <dcterms:modified xsi:type="dcterms:W3CDTF">2026-09-11T08:40:00Z</dcterms:modified>
  <cp:category/>
</cp:coreProperties>
</file>