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520000"/>
            <a:ext cx="11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1F3A5F"/>
                </a:solidFill>
              </a:rPr>
              <a:t>Winter 2027-28 measles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350000"/>
            <a:ext cx="110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1">
                <a:solidFill>
                  <a:srgbClr val="1F3A5F"/>
                </a:solidFill>
              </a:rPr>
              <a:t>Recommendation: fund option B, the MMR catch-up for those born 2008 to 2012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D2329"/>
                </a:solidFill>
              </a:rPr>
              <a:t>It is the only option that brings measles' reproduction number for the winter below one: 0.9 with it, against 1.3 with no catch-up and 1.3 under each of the other options.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D2329"/>
                </a:solidFill>
              </a:rPr>
              <a:t>Without it, one case in the region would on average start a chain that keeps growing through the winter.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3900000"/>
            <a:ext cx="11000000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F3A5F"/>
                </a:solidFill>
              </a:rPr>
              <a:t>Decision for the executive management team, 21 July 2027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1D2329"/>
                </a:solidFill>
              </a:rPr>
              <a:t>Fund option B for delivery from September to November 2027 through the school immunisation team, further education colleges and GP letters (EUR 438,000 in the options paper).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6420000"/>
            <a:ext cx="10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 b="0">
                <a:solidFill>
                  <a:srgbClr val="5B6670"/>
                </a:solidFill>
              </a:rPr>
              <a:t>Regional Immunisation Office, Oriel Health Region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0000" y="6420000"/>
            <a:ext cx="7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 b="0">
                <a:solidFill>
                  <a:srgbClr val="5B6670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350000"/>
            <a:ext cx="11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600" b="1">
                <a:solidFill>
                  <a:srgbClr val="1F3A5F"/>
                </a:solidFill>
              </a:rPr>
              <a:t>Only option B brings the winter reproduction number below one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000" y="1150000"/>
            <a:ext cx="10300000" cy="515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0000" y="6420000"/>
            <a:ext cx="10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 b="0">
                <a:solidFill>
                  <a:srgbClr val="5B6670"/>
                </a:solidFill>
              </a:rPr>
              <a:t>Dominant eigenvalue of the next-generation matrix: National Social Contact Survey 2023 term-time diaries, national immunity profile May 2027, projection at 1 January 2028, scaled to R0 15 (PS-07 3.2).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0000" y="6420000"/>
            <a:ext cx="7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 b="0">
                <a:solidFill>
                  <a:srgbClr val="5B6670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350000"/>
            <a:ext cx="11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600" b="1">
                <a:solidFill>
                  <a:srgbClr val="1F3A5F"/>
                </a:solidFill>
              </a:rPr>
              <a:t>Why the 15 to 19-year-olds decide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250000"/>
            <a:ext cx="1100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F3A5F"/>
                </a:solidFill>
              </a:rPr>
              <a:t>The region is 95.2 per cent immune, above the 93.3 per cent that R0 15 needs, so on the average no catch-up looks needed (0.7).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D2329"/>
                </a:solidFill>
              </a:rPr>
              <a:t>All the contact survey's diaries together give 0.9, but two thirds were kept in July and August with the schools closed. The winter runs in term.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D2329"/>
                </a:solidFill>
              </a:rPr>
              <a:t>In the May diaries, kept in term, more than half of the contacts of 15 to 19-year-olds are with others of that age; in the summer diaries, under a fifth.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D2329"/>
                </a:solidFill>
              </a:rPr>
              <a:t>The cohort born 2008 to 2012, whose uptake fell in the 2010-12 vaccine scare, is 15 to 19 on 1 January 2028 and 11.2 per cent susceptible, against 4.8 per cent across the region. In term, chains of infection run inside that group, so only option B takes the reproduction number below one; D and E reach the least immune adults and the most people and leave it at 1.3.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6420000"/>
            <a:ext cx="10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 b="0">
                <a:solidFill>
                  <a:srgbClr val="5B6670"/>
                </a:solidFill>
              </a:rPr>
              <a:t>National Social Contact Survey 2023 public use file; national immunity profile, May 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0000" y="6420000"/>
            <a:ext cx="7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 b="0">
                <a:solidFill>
                  <a:srgbClr val="5B6670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350000"/>
            <a:ext cx="11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600" b="1">
                <a:solidFill>
                  <a:srgbClr val="1F3A5F"/>
                </a:solidFill>
              </a:rPr>
              <a:t>What each option involves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0000" y="1250000"/>
          <a:ext cx="11000000" cy="36000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500000"/>
                <a:gridCol w="2100000"/>
                <a:gridCol w="1500000"/>
                <a:gridCol w="1600000"/>
                <a:gridCol w="1800000"/>
                <a:gridCol w="1500000"/>
              </a:tblGrid>
              <a:tr h="600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Option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On the register, living in the region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No valid MMR dose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Exactly one valid dose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Confirmed cases since 2019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Of which imported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D2329"/>
                          </a:solidFill>
                        </a:rPr>
                        <a:t>A (born 2013 to 2017)</a:t>
                      </a:r>
                    </a:p>
                  </a:txBody>
                  <a:tcPr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1D2329"/>
                          </a:solidFill>
                        </a:rPr>
                        <a:t>35,346</a:t>
                      </a:r>
                    </a:p>
                  </a:txBody>
                  <a:tcPr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1D2329"/>
                          </a:solidFill>
                        </a:rPr>
                        <a:t>3,545</a:t>
                      </a:r>
                    </a:p>
                  </a:txBody>
                  <a:tcPr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1D2329"/>
                          </a:solidFill>
                        </a:rPr>
                        <a:t>4,720</a:t>
                      </a:r>
                    </a:p>
                  </a:txBody>
                  <a:tcPr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1D2329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1D2329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4F6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D2329"/>
                          </a:solidFill>
                        </a:rPr>
                        <a:t>B (born 2008 to 2012)</a:t>
                      </a:r>
                    </a:p>
                  </a:txBody>
                  <a:tcPr>
                    <a:solidFill>
                      <a:srgbClr val="E3F1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1D2329"/>
                          </a:solidFill>
                        </a:rPr>
                        <a:t>33,217</a:t>
                      </a:r>
                    </a:p>
                  </a:txBody>
                  <a:tcPr>
                    <a:solidFill>
                      <a:srgbClr val="E3F1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1D2329"/>
                          </a:solidFill>
                        </a:rPr>
                        <a:t>4,286</a:t>
                      </a:r>
                    </a:p>
                  </a:txBody>
                  <a:tcPr>
                    <a:solidFill>
                      <a:srgbClr val="E3F1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1D2329"/>
                          </a:solidFill>
                        </a:rPr>
                        <a:t>6,091</a:t>
                      </a:r>
                    </a:p>
                  </a:txBody>
                  <a:tcPr>
                    <a:solidFill>
                      <a:srgbClr val="E3F1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1D2329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3F1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1D2329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3F1E6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D2329"/>
                          </a:solidFill>
                        </a:rPr>
                        <a:t>C (born 2003 to 2007)</a:t>
                      </a:r>
                    </a:p>
                  </a:txBody>
                  <a:tcPr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1D2329"/>
                          </a:solidFill>
                        </a:rPr>
                        <a:t>29,398</a:t>
                      </a:r>
                    </a:p>
                  </a:txBody>
                  <a:tcPr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1D2329"/>
                          </a:solidFill>
                        </a:rPr>
                        <a:t>2,857</a:t>
                      </a:r>
                    </a:p>
                  </a:txBody>
                  <a:tcPr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1D2329"/>
                          </a:solidFill>
                        </a:rPr>
                        <a:t>3,960</a:t>
                      </a:r>
                    </a:p>
                  </a:txBody>
                  <a:tcPr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1D2329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1D2329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4F6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D2329"/>
                          </a:solidFill>
                        </a:rPr>
                        <a:t>D (born 1993 to 1997)</a:t>
                      </a:r>
                    </a:p>
                  </a:txBody>
                  <a:tcPr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1D2329"/>
                          </a:solidFill>
                        </a:rPr>
                        <a:t>30,625</a:t>
                      </a:r>
                    </a:p>
                  </a:txBody>
                  <a:tcPr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1D2329"/>
                          </a:solidFill>
                        </a:rPr>
                        <a:t>4,971</a:t>
                      </a:r>
                    </a:p>
                  </a:txBody>
                  <a:tcPr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1D2329"/>
                          </a:solidFill>
                        </a:rPr>
                        <a:t>7,302</a:t>
                      </a:r>
                    </a:p>
                  </a:txBody>
                  <a:tcPr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1D2329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1D2329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4F6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D2329"/>
                          </a:solidFill>
                        </a:rPr>
                        <a:t>E (born 1993 to 2002)</a:t>
                      </a:r>
                    </a:p>
                  </a:txBody>
                  <a:tcPr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1D2329"/>
                          </a:solidFill>
                        </a:rPr>
                        <a:t>57,865</a:t>
                      </a:r>
                    </a:p>
                  </a:txBody>
                  <a:tcPr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1D2329"/>
                          </a:solidFill>
                        </a:rPr>
                        <a:t>8,526</a:t>
                      </a:r>
                    </a:p>
                  </a:txBody>
                  <a:tcPr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1D2329"/>
                          </a:solidFill>
                        </a:rPr>
                        <a:t>11,793</a:t>
                      </a:r>
                    </a:p>
                  </a:txBody>
                  <a:tcPr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1D2329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1D2329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4F6F7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00000" y="5050000"/>
            <a:ext cx="11000000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5B6670"/>
                </a:solidFill>
              </a:rPr>
              <a:t>Register at 30 June 2027; valid doses under the national guidelines (12.5). Cases with rash onset from 1 January 2019 to 30 June 2027. Option E includes option D's birth years.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6420000"/>
            <a:ext cx="10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 b="0">
                <a:solidFill>
                  <a:srgbClr val="5B6670"/>
                </a:solidFill>
              </a:rPr>
              <a:t>Regional immunisation register extract of 3 July 2027; notifiable disease system extract of 6 July 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0000" y="6420000"/>
            <a:ext cx="7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 b="0">
                <a:solidFill>
                  <a:srgbClr val="5B6670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350000"/>
            <a:ext cx="11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600" b="1">
                <a:solidFill>
                  <a:srgbClr val="1F3A5F"/>
                </a:solidFill>
              </a:rPr>
              <a:t>Method and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250000"/>
            <a:ext cx="11000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F3A5F"/>
                </a:solidFill>
              </a:rPr>
              <a:t>PS-07 section 3: the reproduction number below one throughout the winter, December to February, with R0 15 over the winter; population and immunity on 1 January 2028 from the national profile; each option counted for the people the options paper expects it to make immune.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D2329"/>
                </a:solidFill>
              </a:rPr>
              <a:t>Next-generation matrix: contacts per day by age band from the survey's term-time diaries (2 to 26 May 2023) times each band's susceptible share, scaled so a wholly susceptible region gives 15; the reproduction number is its dominant eigenvalue, which has to stay below one through the term weeks of the winter (PS-07 3.1).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D2329"/>
                </a:solidFill>
              </a:rPr>
              <a:t>Register: addresses in Northern Ireland are outside the region; local health office codes read in the scheme in force when recorded; events through the merge table; GP return lines replaced or withdrawn removed; doses counted under guidelines 12.5.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D2329"/>
                </a:solidFill>
              </a:rPr>
              <a:t>Cases: notifiable disease system extract of 6 July 2027; the 2019 outbreak's back-entered records and cases notified twice counted once.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6420000"/>
            <a:ext cx="10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 b="0">
                <a:solidFill>
                  <a:srgbClr val="5B6670"/>
                </a:solidFill>
              </a:rPr>
              <a:t>PS-07 Measles winter planning standard, version 3.0; options paper of 9 June 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0000" y="6420000"/>
            <a:ext cx="7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 b="0">
                <a:solidFill>
                  <a:srgbClr val="5B6670"/>
                </a:solidFill>
              </a:rP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Winter 2027-28 measles readiness</dc:title>
  <dc:creator>Eadaoin Bonner</dc:creator>
  <cp:lastModifiedBy>Eadaoin Bonner</cp:lastModifiedBy>
  <dcterms:created xsi:type="dcterms:W3CDTF">2027-07-14T10:12:00Z</dcterms:created>
  <dcterms:modified xsi:type="dcterms:W3CDTF">2027-07-14T16:20:00Z</dcterms:modified>
</cp:coreProperties>
</file>