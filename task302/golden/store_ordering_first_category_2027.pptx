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t>Sales each category adds a year with half its out-of-stock line-days removed (NZD thousands, 2025-26 prices)</a:t>
            </a:r>
          </a:p>
        </c:rich>
      </c:tx>
      <c:layout/>
      <c:overlay val="0"/>
    </c:title>
    <c:autoTitleDeleted val="0"/>
    <c:plotArea>
      <c:barChart>
        <c:barDir val="bar"/>
        <c:grouping val="clustered"/>
        <c:ser>
          <c:idx val="0"/>
          <c:order val="0"/>
          <c:tx>
            <c:strRef>
              <c:f>Sheet1!$B$1</c:f>
              <c:strCache>
                <c:ptCount val="1"/>
                <c:pt idx="0">
                  <c:v>NZD thousands a year</c:v>
                </c:pt>
              </c:strCache>
            </c:strRef>
          </c:tx>
          <c:spPr>
            <a:solidFill>
              <a:srgbClr val="A6AEB8"/>
            </a:solidFill>
          </c:spPr>
          <c:dPt>
            <c:idx val="3"/>
            <c:spPr>
              <a:solidFill>
                <a:srgbClr val="1F5F8B"/>
              </a:solidFill>
            </c:spPr>
          </c:dPt>
          <c:dLbls>
            <c:dLbl>
              <c:idx val="3"/>
              <c:tx>
                <c:rich>
                  <a:bodyPr/>
                  <a:lstStyle/>
                  <a:p>
                    <a:r>
                      <a:rPr sz="1100" b="1"/>
                      <a:t>about 60,000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Gluten-free bakery</c:v>
                </c:pt>
                <c:pt idx="1">
                  <c:v>Water</c:v>
                </c:pt>
                <c:pt idx="2">
                  <c:v>Pet food</c:v>
                </c:pt>
                <c:pt idx="3">
                  <c:v>Formula</c:v>
                </c:pt>
              </c:strCache>
            </c:strRef>
          </c:cat>
          <c:val>
            <c:numRef>
              <c:f>Sheet1!$B$2:$B$5</c:f>
              <c:numCache>
                <c:formatCode>General</c:formatCode>
                <c:ptCount val="4"/>
                <c:pt idx="0">
                  <c:v>11.3</c:v>
                </c:pt>
                <c:pt idx="1">
                  <c:v>11.5</c:v>
                </c:pt>
                <c:pt idx="2">
                  <c:v>16.6</c:v>
                </c:pt>
                <c:pt idx="3">
                  <c:v>57.8</c:v>
                </c:pt>
              </c:numCache>
            </c:numRef>
          </c:val>
        </c:ser>
        <c:gapWidth val="70"/>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70.0"/>
          <c:min val="0.0"/>
        </c:scaling>
        <c:delete val="0"/>
        <c:axPos val="b"/>
        <c:majorTickMark val="out"/>
        <c:minorTickMark val="none"/>
        <c:tickLblPos val="nextTo"/>
        <c:txPr>
          <a:bodyPr/>
          <a:lstStyle/>
          <a:p>
            <a:pPr>
              <a:defRPr sz="1000"/>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274320"/>
            <a:ext cx="11338560" cy="868680"/>
          </a:xfrm>
        </p:spPr>
        <p:txBody>
          <a:bodyPr/>
          <a:lstStyle/>
          <a:p>
            <a:pPr algn="l"/>
            <a:r>
              <a:rPr sz="2600" b="1"/>
              <a:t>Infant formula goes first: about NZD 60,000 a year more formula sales</a:t>
            </a:r>
          </a:p>
        </p:txBody>
      </p:sp>
      <p:graphicFrame>
        <p:nvGraphicFramePr>
          <p:cNvPr id="3" name="Chart 2"/>
          <p:cNvGraphicFramePr>
            <a:graphicFrameLocks noGrp="1"/>
          </p:cNvGraphicFramePr>
          <p:nvPr/>
        </p:nvGraphicFramePr>
        <p:xfrm>
          <a:off x="411480" y="1234440"/>
          <a:ext cx="7498079" cy="4846320"/>
        </p:xfrm>
        <a:graphic>
          <a:graphicData uri="http://schemas.openxmlformats.org/drawingml/2006/chart">
            <c:chart xmlns:c="http://schemas.openxmlformats.org/drawingml/2006/chart" r:id="rId2"/>
          </a:graphicData>
        </a:graphic>
      </p:graphicFrame>
      <p:sp>
        <p:nvSpPr>
          <p:cNvPr id="4" name="TextBox 3"/>
          <p:cNvSpPr txBox="1"/>
          <p:nvPr/>
        </p:nvSpPr>
        <p:spPr>
          <a:xfrm>
            <a:off x="8183879" y="1325880"/>
            <a:ext cx="3611880" cy="4480560"/>
          </a:xfrm>
          <a:prstGeom prst="rect">
            <a:avLst/>
          </a:prstGeom>
          <a:noFill/>
        </p:spPr>
        <p:txBody>
          <a:bodyPr wrap="square">
            <a:spAutoFit/>
          </a:bodyPr>
          <a:lstStyle/>
          <a:p>
            <a:r>
              <a:rPr sz="1300" b="0"/>
              <a:t>Formula's 1,968 out-of-stock line-days all fell on the 246 store-days its whole shelf was empty, the weeks Arataki's visit was missed: nothing else on the shelf took the sale and shoppers did not wait for the next visit.</a:t>
            </a:r>
          </a:p>
          <a:p/>
          <a:p>
            <a:r>
              <a:rPr sz="1300" b="0"/>
              <a:t>Water had the most out-of-stock line-days (2,714), but on those days the other water lines sold most of what the missing line would have.</a:t>
            </a:r>
          </a:p>
          <a:p/>
          <a:p>
            <a:r>
              <a:rPr sz="1300" b="0"/>
              <a:t>Pet food's shoppers mostly bought the missing bag after the restock.</a:t>
            </a:r>
          </a:p>
        </p:txBody>
      </p:sp>
      <p:sp>
        <p:nvSpPr>
          <p:cNvPr id="5" name="TextBox 4"/>
          <p:cNvSpPr txBox="1"/>
          <p:nvPr/>
        </p:nvSpPr>
        <p:spPr>
          <a:xfrm>
            <a:off x="411480" y="6217920"/>
            <a:ext cx="10972800" cy="320040"/>
          </a:xfrm>
          <a:prstGeom prst="rect">
            <a:avLst/>
          </a:prstGeom>
          <a:noFill/>
        </p:spPr>
        <p:txBody>
          <a:bodyPr wrap="square">
            <a:spAutoFit/>
          </a:bodyPr>
          <a:lstStyle/>
          <a:p>
            <a:r>
              <a:rPr sz="900" b="0">
                <a:solidFill>
                  <a:srgbClr val="777777"/>
                </a:solidFill>
              </a:rPr>
              <a:t>Point-of-sale and stock system, 24 stores, 1 July 2025 to 30 June 2026. A line-day is out of stock when the store opened with none on hand. Supply chain analytics, 20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274320"/>
            <a:ext cx="11338560" cy="868680"/>
          </a:xfrm>
        </p:spPr>
        <p:txBody>
          <a:bodyPr/>
          <a:lstStyle/>
          <a:p>
            <a:pPr algn="l"/>
            <a:r>
              <a:rPr sz="2600" b="1"/>
              <a:t>How the figures were worked</a:t>
            </a:r>
          </a:p>
        </p:txBody>
      </p:sp>
      <p:sp>
        <p:nvSpPr>
          <p:cNvPr id="3" name="TextBox 2"/>
          <p:cNvSpPr txBox="1"/>
          <p:nvPr/>
        </p:nvSpPr>
        <p:spPr>
          <a:xfrm>
            <a:off x="411480" y="1280160"/>
            <a:ext cx="11247120" cy="4572000"/>
          </a:xfrm>
          <a:prstGeom prst="rect">
            <a:avLst/>
          </a:prstGeom>
          <a:noFill/>
        </p:spPr>
        <p:txBody>
          <a:bodyPr wrap="square">
            <a:spAutoFit/>
          </a:bodyPr>
          <a:lstStyle/>
          <a:p>
            <a:r>
              <a:rPr sz="1500" b="0"/>
              <a:t>Each line's expected sales on a day are its sales on the same weekday in the four weeks either side, on days it was on the shelf, outside the fortnight after its own restock and with no other line of its category out.</a:t>
            </a:r>
          </a:p>
          <a:p/>
          <a:p>
            <a:r>
              <a:rPr sz="1500" b="0"/>
              <a:t>A category's loss over the year is its missing lines' expected sales on their out-of-stock days, less what its other lines sold above their own expected sales on those days and what each line sold above its expected sales in the fortnight after it came back.</a:t>
            </a:r>
          </a:p>
          <a:p/>
          <a:p>
            <a:r>
              <a:rPr sz="1500" b="0"/>
              <a:t>The value of going first is half that loss, at each line's 2025-26 shelf price, as the planning note sets out. The trial, delivery and pallet figures are in the workbook.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store ordering: the first category</dc:title>
  <dc:subject/>
  <dc:creator>Ridgeway Foodmarkets</dc:creator>
  <cp:keywords/>
  <dc:description/>
  <cp:lastModifiedBy>Ridgeway Foodmarkets</cp:lastModifiedBy>
  <cp:revision>5</cp:revision>
  <dcterms:created xsi:type="dcterms:W3CDTF">2026-11-18T09:30:00Z</dcterms:created>
  <dcterms:modified xsi:type="dcterms:W3CDTF">2026-11-20T14:05:00Z</dcterms:modified>
  <cp:category/>
</cp:coreProperties>
</file>