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Claims cost per 1,000 miles (USD)</c:v>
                </c:pt>
              </c:strCache>
            </c:strRef>
          </c:tx>
          <c:dPt>
            <c:idx val="0"/>
            <c:spPr>
              <a:solidFill>
                <a:srgbClr val="C9B8A6"/>
              </a:solidFill>
            </c:spPr>
          </c:dPt>
          <c:dPt>
            <c:idx val="1"/>
            <c:spPr>
              <a:solidFill>
                <a:srgbClr val="C9B8A6"/>
              </a:solidFill>
            </c:spPr>
          </c:dPt>
          <c:dPt>
            <c:idx val="2"/>
            <c:spPr>
              <a:solidFill>
                <a:srgbClr val="C9B8A6"/>
              </a:solidFill>
            </c:spPr>
          </c:dPt>
          <c:dPt>
            <c:idx val="3"/>
            <c:spPr>
              <a:solidFill>
                <a:srgbClr val="C9B8A6"/>
              </a:solidFill>
            </c:spPr>
          </c:dPt>
          <c:dPt>
            <c:idx val="4"/>
            <c:spPr>
              <a:solidFill>
                <a:srgbClr val="7A4B1E"/>
              </a:solidFill>
            </c:spPr>
          </c:dPt>
          <c:dPt>
            <c:idx val="5"/>
            <c:spPr>
              <a:solidFill>
                <a:srgbClr val="7A4B1E"/>
              </a:solidFill>
            </c:spPr>
          </c:dPt>
          <c:dPt>
            <c:idx val="6"/>
            <c:spPr>
              <a:solidFill>
                <a:srgbClr val="7A4B1E"/>
              </a:solidFill>
            </c:spPr>
          </c:dPt>
          <c:dPt>
            <c:idx val="7"/>
            <c:spPr>
              <a:solidFill>
                <a:srgbClr val="7A4B1E"/>
              </a:solidFill>
            </c:spPr>
          </c:dPt>
          <c:dPt>
            <c:idx val="8"/>
            <c:spPr>
              <a:solidFill>
                <a:srgbClr val="7A4B1E"/>
              </a:solidFill>
            </c:spPr>
          </c:dPt>
          <c:dPt>
            <c:idx val="9"/>
            <c:spPr>
              <a:solidFill>
                <a:srgbClr val="7A4B1E"/>
              </a:solidFill>
            </c:spPr>
          </c:dPt>
          <c:dPt>
            <c:idx val="10"/>
            <c:spPr>
              <a:solidFill>
                <a:srgbClr val="7A4B1E"/>
              </a:solidFill>
            </c:spPr>
          </c:dPt>
          <c:dPt>
            <c:idx val="11"/>
            <c:spPr>
              <a:solidFill>
                <a:srgbClr val="7A4B1E"/>
              </a:solidFill>
            </c:spPr>
          </c:dPt>
          <c:dPt>
            <c:idx val="12"/>
            <c:spPr>
              <a:solidFill>
                <a:srgbClr val="7A4B1E"/>
              </a:solidFill>
            </c:spPr>
          </c:dPt>
          <c:dPt>
            <c:idx val="13"/>
            <c:spPr>
              <a:solidFill>
                <a:srgbClr val="7A4B1E"/>
              </a:solidFill>
            </c:spPr>
          </c:dPt>
          <c:dPt>
            <c:idx val="14"/>
            <c:spPr>
              <a:solidFill>
                <a:srgbClr val="7A4B1E"/>
              </a:solidFill>
            </c:spPr>
          </c:dPt>
          <c:dPt>
            <c:idx val="15"/>
            <c:spPr>
              <a:solidFill>
                <a:srgbClr val="7A4B1E"/>
              </a:solidFill>
            </c:spPr>
          </c:dPt>
          <c:dPt>
            <c:idx val="16"/>
            <c:spPr>
              <a:solidFill>
                <a:srgbClr val="7A4B1E"/>
              </a:solidFill>
            </c:spPr>
          </c:dPt>
          <c:cat>
            <c:strRef>
              <c:f>Sheet1!$A$2:$A$18</c:f>
              <c:strCache>
                <c:ptCount val="17"/>
                <c:pt idx="0">
                  <c:v>10-20</c:v>
                </c:pt>
                <c:pt idx="1">
                  <c:v>20-30</c:v>
                </c:pt>
                <c:pt idx="2">
                  <c:v>30-40</c:v>
                </c:pt>
                <c:pt idx="3">
                  <c:v>40-50</c:v>
                </c:pt>
                <c:pt idx="4">
                  <c:v>50-60</c:v>
                </c:pt>
                <c:pt idx="5">
                  <c:v>60-70</c:v>
                </c:pt>
                <c:pt idx="6">
                  <c:v>70-80</c:v>
                </c:pt>
                <c:pt idx="7">
                  <c:v>80-90</c:v>
                </c:pt>
                <c:pt idx="8">
                  <c:v>90-100</c:v>
                </c:pt>
                <c:pt idx="9">
                  <c:v>100-110</c:v>
                </c:pt>
                <c:pt idx="10">
                  <c:v>110-120</c:v>
                </c:pt>
                <c:pt idx="11">
                  <c:v>120-130</c:v>
                </c:pt>
                <c:pt idx="12">
                  <c:v>130-140</c:v>
                </c:pt>
                <c:pt idx="13">
                  <c:v>140-150</c:v>
                </c:pt>
                <c:pt idx="14">
                  <c:v>150-160</c:v>
                </c:pt>
                <c:pt idx="15">
                  <c:v>160-170</c:v>
                </c:pt>
                <c:pt idx="16">
                  <c:v>170-180</c:v>
                </c:pt>
              </c:strCache>
            </c:strRef>
          </c:cat>
          <c:val>
            <c:numRef>
              <c:f>Sheet1!$B$2:$B$18</c:f>
              <c:numCache>
                <c:formatCode>General</c:formatCode>
                <c:ptCount val="17"/>
                <c:pt idx="0">
                  <c:v>3.4</c:v>
                </c:pt>
                <c:pt idx="1">
                  <c:v>4.4</c:v>
                </c:pt>
                <c:pt idx="2">
                  <c:v>3.8</c:v>
                </c:pt>
                <c:pt idx="3">
                  <c:v>4.2</c:v>
                </c:pt>
                <c:pt idx="4">
                  <c:v>4.1</c:v>
                </c:pt>
                <c:pt idx="5">
                  <c:v>4.1</c:v>
                </c:pt>
                <c:pt idx="6">
                  <c:v>5.0</c:v>
                </c:pt>
                <c:pt idx="7">
                  <c:v>7.6</c:v>
                </c:pt>
                <c:pt idx="8">
                  <c:v>13.5</c:v>
                </c:pt>
                <c:pt idx="9">
                  <c:v>22.0</c:v>
                </c:pt>
                <c:pt idx="10">
                  <c:v>34.6</c:v>
                </c:pt>
                <c:pt idx="11">
                  <c:v>52.7</c:v>
                </c:pt>
                <c:pt idx="12">
                  <c:v>76.1</c:v>
                </c:pt>
                <c:pt idx="13">
                  <c:v>109.1</c:v>
                </c:pt>
                <c:pt idx="14">
                  <c:v>151.4</c:v>
                </c:pt>
                <c:pt idx="15">
                  <c:v>174.0</c:v>
                </c:pt>
                <c:pt idx="16">
                  <c:v>280.5</c:v>
                </c:pt>
              </c:numCache>
            </c:numRef>
          </c:val>
        </c:ser>
        <c:gapWidth val="40"/>
        <c:axId val="-2068027336"/>
        <c:axId val="-2113994440"/>
      </c:barChart>
      <c:catAx>
        <c:axId val="-2068027336"/>
        <c:scaling>
          <c:orientation val="minMax"/>
        </c:scaling>
        <c:delete val="0"/>
        <c:axPos val="b"/>
        <c:title>
          <c:tx>
            <c:rich>
              <a:bodyPr/>
              <a:lstStyle/>
              <a:p>
                <a:pPr>
                  <a:defRPr sz="1200"/>
                </a:pPr>
                <a:r>
                  <a:t>Odometer band (thousand miles), whole book 2019 to September 2026</a:t>
                </a:r>
              </a:p>
            </c:rich>
          </c:tx>
          <c:layout/>
          <c:overlay val="0"/>
        </c:title>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delete val="0"/>
        <c:axPos val="l"/>
        <c:majorGridlines/>
        <c:title>
          <c:tx>
            <c:rich>
              <a:bodyPr/>
              <a:lstStyle/>
              <a:p>
                <a:pPr>
                  <a:defRPr sz="1200"/>
                </a:pPr>
                <a:r>
                  <a:t>Claims cost per 1,000 miles (USD)</a:t>
                </a:r>
              </a:p>
            </c:rich>
          </c:tx>
          <c:layout/>
          <c:overlay val="0"/>
        </c:title>
        <c:majorTickMark val="out"/>
        <c:minorTickMark val="none"/>
        <c:tickLblPos val="nextTo"/>
        <c:txPr>
          <a:bodyPr/>
          <a:lstStyle/>
          <a:p>
            <a:pPr>
              <a:defRPr sz="1100"/>
            </a:pPr>
          </a:p>
        </c:txPr>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914400"/>
          </a:xfrm>
          <a:prstGeom prst="rect">
            <a:avLst/>
          </a:prstGeom>
          <a:noFill/>
        </p:spPr>
        <p:txBody>
          <a:bodyPr wrap="square">
            <a:spAutoFit/>
          </a:bodyPr>
          <a:lstStyle/>
          <a:p>
            <a:pPr>
              <a:defRPr sz="2800" b="1">
                <a:solidFill>
                  <a:srgbClr val="7A4B1E"/>
                </a:solidFill>
              </a:defRPr>
            </a:pPr>
            <a:r>
              <a:t>Renew Fareline on 1 January 2027 with the maximum high-use surcharge</a:t>
            </a:r>
          </a:p>
        </p:txBody>
      </p:sp>
      <p:sp>
        <p:nvSpPr>
          <p:cNvPr id="3" name="TextBox 2"/>
          <p:cNvSpPr txBox="1"/>
          <p:nvPr/>
        </p:nvSpPr>
        <p:spPr>
          <a:xfrm>
            <a:off x="548640" y="1188720"/>
            <a:ext cx="10972800" cy="822960"/>
          </a:xfrm>
          <a:prstGeom prst="rect">
            <a:avLst/>
          </a:prstGeom>
          <a:noFill/>
        </p:spPr>
        <p:txBody>
          <a:bodyPr wrap="square">
            <a:spAutoFit/>
          </a:bodyPr>
          <a:lstStyle/>
          <a:p>
            <a:pPr>
              <a:defRPr sz="1600" b="0">
                <a:solidFill>
                  <a:srgbClr val="1D2330"/>
                </a:solidFill>
              </a:defRPr>
            </a:pPr>
            <a:r>
              <a:t>A 2027 Fareline contract will cost about 75 per cent of its price in claims at current rates and about 55 per cent with the 40 per cent surcharge, against the rate manual's 70 per cent standard.</a:t>
            </a:r>
          </a:p>
        </p:txBody>
      </p:sp>
      <p:graphicFrame>
        <p:nvGraphicFramePr>
          <p:cNvPr id="4" name="Table 3"/>
          <p:cNvGraphicFramePr>
            <a:graphicFrameLocks noGrp="1"/>
          </p:cNvGraphicFramePr>
          <p:nvPr/>
        </p:nvGraphicFramePr>
        <p:xfrm>
          <a:off x="548640" y="2286000"/>
          <a:ext cx="7772400" cy="2377440"/>
        </p:xfrm>
        <a:graphic>
          <a:graphicData uri="http://schemas.openxmlformats.org/drawingml/2006/table">
            <a:tbl>
              <a:tblPr>
                <a:tableStyleId>{5C22544A-7EE6-4342-B048-85BDC9FD1C3A}</a:tableStyleId>
              </a:tblPr>
              <a:tblGrid>
                <a:gridCol w="4206240"/>
                <a:gridCol w="3566160"/>
              </a:tblGrid>
              <a:tr h="475488">
                <a:tc>
                  <a:txBody>
                    <a:bodyPr/>
                    <a:lstStyle/>
                    <a:p>
                      <a:pPr>
                        <a:defRPr sz="1400" b="0">
                          <a:solidFill>
                            <a:srgbClr val="1D2330"/>
                          </a:solidFill>
                        </a:defRPr>
                      </a:pPr>
                      <a:r>
                        <a:t>Election</a:t>
                      </a:r>
                    </a:p>
                  </a:txBody>
                  <a:tcPr>
                    <a:solidFill>
                      <a:srgbClr val="FFFFFF"/>
                    </a:solidFill>
                  </a:tcPr>
                </a:tc>
                <a:tc>
                  <a:txBody>
                    <a:bodyPr/>
                    <a:lstStyle/>
                    <a:p>
                      <a:pPr>
                        <a:defRPr sz="1400" b="1">
                          <a:solidFill>
                            <a:srgbClr val="1D2330"/>
                          </a:solidFill>
                        </a:defRPr>
                      </a:pPr>
                      <a:r>
                        <a:t>renew with the maximum high-use surcharge</a:t>
                      </a:r>
                    </a:p>
                  </a:txBody>
                  <a:tcPr>
                    <a:solidFill>
                      <a:srgbClr val="FFFFFF"/>
                    </a:solidFill>
                  </a:tcPr>
                </a:tc>
              </a:tr>
              <a:tr h="475488">
                <a:tc>
                  <a:txBody>
                    <a:bodyPr/>
                    <a:lstStyle/>
                    <a:p>
                      <a:pPr>
                        <a:defRPr sz="1400" b="0">
                          <a:solidFill>
                            <a:srgbClr val="1D2330"/>
                          </a:solidFill>
                        </a:defRPr>
                      </a:pPr>
                      <a:r>
                        <a:t>Lifetime loss ratio, current price</a:t>
                      </a:r>
                    </a:p>
                  </a:txBody>
                  <a:tcPr>
                    <a:solidFill>
                      <a:srgbClr val="F3ECE4"/>
                    </a:solidFill>
                  </a:tcPr>
                </a:tc>
                <a:tc>
                  <a:txBody>
                    <a:bodyPr/>
                    <a:lstStyle/>
                    <a:p>
                      <a:pPr>
                        <a:defRPr sz="1400" b="1">
                          <a:solidFill>
                            <a:srgbClr val="1D2330"/>
                          </a:solidFill>
                        </a:defRPr>
                      </a:pPr>
                      <a:r>
                        <a:t>about 75%</a:t>
                      </a:r>
                    </a:p>
                  </a:txBody>
                  <a:tcPr>
                    <a:solidFill>
                      <a:srgbClr val="F3ECE4"/>
                    </a:solidFill>
                  </a:tcPr>
                </a:tc>
              </a:tr>
              <a:tr h="475488">
                <a:tc>
                  <a:txBody>
                    <a:bodyPr/>
                    <a:lstStyle/>
                    <a:p>
                      <a:pPr>
                        <a:defRPr sz="1400" b="0">
                          <a:solidFill>
                            <a:srgbClr val="1D2330"/>
                          </a:solidFill>
                        </a:defRPr>
                      </a:pPr>
                      <a:r>
                        <a:t>Lifetime loss ratio, surcharged price</a:t>
                      </a:r>
                    </a:p>
                  </a:txBody>
                  <a:tcPr>
                    <a:solidFill>
                      <a:srgbClr val="FFFFFF"/>
                    </a:solidFill>
                  </a:tcPr>
                </a:tc>
                <a:tc>
                  <a:txBody>
                    <a:bodyPr/>
                    <a:lstStyle/>
                    <a:p>
                      <a:pPr>
                        <a:defRPr sz="1400" b="1">
                          <a:solidFill>
                            <a:srgbClr val="1D2330"/>
                          </a:solidFill>
                        </a:defRPr>
                      </a:pPr>
                      <a:r>
                        <a:t>about 55%</a:t>
                      </a:r>
                    </a:p>
                  </a:txBody>
                  <a:tcPr>
                    <a:solidFill>
                      <a:srgbClr val="FFFFFF"/>
                    </a:solidFill>
                  </a:tcPr>
                </a:tc>
              </a:tr>
              <a:tr h="475488">
                <a:tc>
                  <a:txBody>
                    <a:bodyPr/>
                    <a:lstStyle/>
                    <a:p>
                      <a:pPr>
                        <a:defRPr sz="1400" b="0">
                          <a:solidFill>
                            <a:srgbClr val="1D2330"/>
                          </a:solidFill>
                        </a:defRPr>
                      </a:pPr>
                      <a:r>
                        <a:t>Claims over a contract's cover (average)</a:t>
                      </a:r>
                    </a:p>
                  </a:txBody>
                  <a:tcPr>
                    <a:solidFill>
                      <a:srgbClr val="F3ECE4"/>
                    </a:solidFill>
                  </a:tcPr>
                </a:tc>
                <a:tc>
                  <a:txBody>
                    <a:bodyPr/>
                    <a:lstStyle/>
                    <a:p>
                      <a:pPr>
                        <a:defRPr sz="1400" b="1">
                          <a:solidFill>
                            <a:srgbClr val="1D2330"/>
                          </a:solidFill>
                        </a:defRPr>
                      </a:pPr>
                      <a:r>
                        <a:t>USD 3,600</a:t>
                      </a:r>
                    </a:p>
                  </a:txBody>
                  <a:tcPr>
                    <a:solidFill>
                      <a:srgbClr val="F3ECE4"/>
                    </a:solidFill>
                  </a:tcPr>
                </a:tc>
              </a:tr>
              <a:tr h="475488">
                <a:tc>
                  <a:txBody>
                    <a:bodyPr/>
                    <a:lstStyle/>
                    <a:p>
                      <a:pPr>
                        <a:defRPr sz="1400" b="0">
                          <a:solidFill>
                            <a:srgbClr val="1D2330"/>
                          </a:solidFill>
                        </a:defRPr>
                      </a:pPr>
                      <a:r>
                        <a:t>Contract price at current rates (average)</a:t>
                      </a:r>
                    </a:p>
                  </a:txBody>
                  <a:tcPr>
                    <a:solidFill>
                      <a:srgbClr val="FFFFFF"/>
                    </a:solidFill>
                  </a:tcPr>
                </a:tc>
                <a:tc>
                  <a:txBody>
                    <a:bodyPr/>
                    <a:lstStyle/>
                    <a:p>
                      <a:pPr>
                        <a:defRPr sz="1400" b="1">
                          <a:solidFill>
                            <a:srgbClr val="1D2330"/>
                          </a:solidFill>
                        </a:defRPr>
                      </a:pPr>
                      <a:r>
                        <a:t>USD 4,790</a:t>
                      </a:r>
                    </a:p>
                  </a:txBody>
                  <a:tcPr>
                    <a:solidFill>
                      <a:srgbClr val="FFFFFF"/>
                    </a:solidFill>
                  </a:tcPr>
                </a:tc>
              </a:tr>
            </a:tbl>
          </a:graphicData>
        </a:graphic>
      </p:graphicFrame>
      <p:sp>
        <p:nvSpPr>
          <p:cNvPr id="5" name="TextBox 4"/>
          <p:cNvSpPr txBox="1"/>
          <p:nvPr/>
        </p:nvSpPr>
        <p:spPr>
          <a:xfrm>
            <a:off x="548640" y="5029200"/>
            <a:ext cx="10972800" cy="1097280"/>
          </a:xfrm>
          <a:prstGeom prst="rect">
            <a:avLst/>
          </a:prstGeom>
          <a:noFill/>
        </p:spPr>
        <p:txBody>
          <a:bodyPr wrap="square">
            <a:spAutoFit/>
          </a:bodyPr>
          <a:lstStyle/>
          <a:p>
            <a:pPr>
              <a:defRPr sz="1300" b="0">
                <a:solidFill>
                  <a:srgbClr val="5A6270"/>
                </a:solidFill>
              </a:defRPr>
            </a:pPr>
            <a:r>
              <a:t>Fareline drivers buy cover on cars at 50,000 to 100,000 miles and drive about 46,000 miles a year, so the 75,000 covered miles run out in about 21 months, at odometers where repairs come many times as often and cost more. The channel's own six months have seen only the start of that cover.</a:t>
            </a:r>
          </a:p>
        </p:txBody>
      </p:sp>
      <p:sp>
        <p:nvSpPr>
          <p:cNvPr id="6" name="TextBox 5"/>
          <p:cNvSpPr txBox="1"/>
          <p:nvPr/>
        </p:nvSpPr>
        <p:spPr>
          <a:xfrm>
            <a:off x="548640" y="6309360"/>
            <a:ext cx="10972800" cy="365760"/>
          </a:xfrm>
          <a:prstGeom prst="rect">
            <a:avLst/>
          </a:prstGeom>
          <a:noFill/>
        </p:spPr>
        <p:txBody>
          <a:bodyPr wrap="square">
            <a:spAutoFit/>
          </a:bodyPr>
          <a:lstStyle/>
          <a:p>
            <a:pPr>
              <a:defRPr sz="1000" b="0">
                <a:solidFill>
                  <a:srgbClr val="5A6270"/>
                </a:solidFill>
              </a:defRPr>
            </a:pPr>
            <a:r>
              <a:t>Source: Copperline claims and odometer records to 30 September 2026; rate manual 2026, section 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822960"/>
          </a:xfrm>
          <a:prstGeom prst="rect">
            <a:avLst/>
          </a:prstGeom>
          <a:noFill/>
        </p:spPr>
        <p:txBody>
          <a:bodyPr wrap="square">
            <a:spAutoFit/>
          </a:bodyPr>
          <a:lstStyle/>
          <a:p>
            <a:pPr>
              <a:defRPr sz="2400" b="1">
                <a:solidFill>
                  <a:srgbClr val="7A4B1E"/>
                </a:solidFill>
              </a:defRPr>
            </a:pPr>
            <a:r>
              <a:t>Repairs cost per mile climbs past 70,000 miles, where a Fareline cover is spent</a:t>
            </a:r>
          </a:p>
        </p:txBody>
      </p:sp>
      <p:graphicFrame>
        <p:nvGraphicFramePr>
          <p:cNvPr id="3" name="Chart 2"/>
          <p:cNvGraphicFramePr>
            <a:graphicFrameLocks noGrp="1"/>
          </p:cNvGraphicFramePr>
          <p:nvPr/>
        </p:nvGraphicFramePr>
        <p:xfrm>
          <a:off x="548640" y="1280160"/>
          <a:ext cx="10972800" cy="4206240"/>
        </p:xfrm>
        <a:graphic>
          <a:graphicData uri="http://schemas.openxmlformats.org/drawingml/2006/chart">
            <c:chart xmlns:c="http://schemas.openxmlformats.org/drawingml/2006/chart" r:id="rId2"/>
          </a:graphicData>
        </a:graphic>
      </p:graphicFrame>
      <p:sp>
        <p:nvSpPr>
          <p:cNvPr id="4" name="TextBox 3"/>
          <p:cNvSpPr txBox="1"/>
          <p:nvPr/>
        </p:nvSpPr>
        <p:spPr>
          <a:xfrm>
            <a:off x="548640" y="5623560"/>
            <a:ext cx="10972800" cy="731520"/>
          </a:xfrm>
          <a:prstGeom prst="rect">
            <a:avLst/>
          </a:prstGeom>
          <a:noFill/>
        </p:spPr>
        <p:txBody>
          <a:bodyPr wrap="square">
            <a:spAutoFit/>
          </a:bodyPr>
          <a:lstStyle/>
          <a:p>
            <a:pPr>
              <a:defRPr sz="1200" b="0">
                <a:solidFill>
                  <a:srgbClr val="5A6270"/>
                </a:solidFill>
              </a:defRPr>
            </a:pPr>
            <a:r>
              <a:t>Darker bars: the odometers a Fareline cover runs through (50,000 to 175,000 miles). Each 2026 Fareline contract is run from its odometer at sale at its own annual mileage to 75,000 miles or 60 months.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Fareline channel renewal 2027</dc:title>
  <dc:creator>Emily Willis</dc:creator>
  <cp:lastModifiedBy>Nicholas Reed</cp:lastModifiedBy>
  <dcterms:created xsi:type="dcterms:W3CDTF">2026-10-14T10:05:00Z</dcterms:created>
  <dcterms:modified xsi:type="dcterms:W3CDTF">2026-10-19T17:30:00Z</dcterms:modified>
</cp:coreProperties>
</file>