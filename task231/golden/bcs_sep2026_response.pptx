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Response rate at the 17:00 main close on 25 September 2026, by region (%): red under 55, amber 55 to under 58, green 58 or more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 at the main close (%)</c:v>
                </c:pt>
              </c:strCache>
            </c:strRef>
          </c:tx>
          <c:spPr>
            <a:solidFill>
              <a:srgbClr val="3C7A3E"/>
            </a:solidFill>
          </c:spPr>
          <c:dPt>
            <c:idx val="0"/>
            <c:spPr>
              <a:solidFill>
                <a:srgbClr val="B3261E"/>
              </a:solidFill>
            </c:spPr>
          </c:dPt>
          <c:dPt>
            <c:idx val="1"/>
            <c:spPr>
              <a:solidFill>
                <a:srgbClr val="B3261E"/>
              </a:solidFill>
            </c:spPr>
          </c:dPt>
          <c:dPt>
            <c:idx val="2"/>
            <c:spPr>
              <a:solidFill>
                <a:srgbClr val="D98E04"/>
              </a:solidFill>
            </c:spPr>
          </c:dPt>
          <c:dPt>
            <c:idx val="3"/>
            <c:spPr>
              <a:solidFill>
                <a:srgbClr val="D98E04"/>
              </a:solidFill>
            </c:spPr>
          </c:dPt>
          <c:dPt>
            <c:idx val="4"/>
            <c:spPr>
              <a:solidFill>
                <a:srgbClr val="3C7A3E"/>
              </a:solidFill>
            </c:spPr>
          </c:dPt>
          <c:dPt>
            <c:idx val="5"/>
            <c:spPr>
              <a:solidFill>
                <a:srgbClr val="3C7A3E"/>
              </a:solidFill>
            </c:spPr>
          </c:dPt>
          <c:dPt>
            <c:idx val="6"/>
            <c:spPr>
              <a:solidFill>
                <a:srgbClr val="3C7A3E"/>
              </a:solidFill>
            </c:spPr>
          </c:dPt>
          <c:dPt>
            <c:idx val="7"/>
            <c:spPr>
              <a:solidFill>
                <a:srgbClr val="3C7A3E"/>
              </a:solidFill>
            </c:spPr>
          </c:dPt>
          <c:dPt>
            <c:idx val="8"/>
            <c:spPr>
              <a:solidFill>
                <a:srgbClr val="3C7A3E"/>
              </a:solidFill>
            </c:spPr>
          </c:dPt>
          <c:dPt>
            <c:idx val="9"/>
            <c:spPr>
              <a:solidFill>
                <a:srgbClr val="3C7A3E"/>
              </a:solidFill>
            </c:spPr>
          </c:dPt>
          <c:dPt>
            <c:idx val="10"/>
            <c:spPr>
              <a:solidFill>
                <a:srgbClr val="3C7A3E"/>
              </a:solidFill>
            </c:spPr>
          </c:dPt>
          <c:dPt>
            <c:idx val="11"/>
            <c:spPr>
              <a:solidFill>
                <a:srgbClr val="3C7A3E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Capital</c:v>
                </c:pt>
                <c:pt idx="1">
                  <c:v>Harbour</c:v>
                </c:pt>
                <c:pt idx="2">
                  <c:v>Western Uplands</c:v>
                </c:pt>
                <c:pt idx="3">
                  <c:v>Islands</c:v>
                </c:pt>
                <c:pt idx="4">
                  <c:v>Border</c:v>
                </c:pt>
                <c:pt idx="5">
                  <c:v>Midlands</c:v>
                </c:pt>
                <c:pt idx="6">
                  <c:v>North Coast</c:v>
                </c:pt>
                <c:pt idx="7">
                  <c:v>Northern Forests</c:v>
                </c:pt>
                <c:pt idx="8">
                  <c:v>Eastern Lakes</c:v>
                </c:pt>
                <c:pt idx="9">
                  <c:v>Southern Plains</c:v>
                </c:pt>
                <c:pt idx="10">
                  <c:v>South Coast</c:v>
                </c:pt>
                <c:pt idx="11">
                  <c:v>River Valley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48.7</c:v>
                </c:pt>
                <c:pt idx="1">
                  <c:v>52.7</c:v>
                </c:pt>
                <c:pt idx="2">
                  <c:v>55.4</c:v>
                </c:pt>
                <c:pt idx="3">
                  <c:v>55.5</c:v>
                </c:pt>
                <c:pt idx="4">
                  <c:v>58.7</c:v>
                </c:pt>
                <c:pt idx="5">
                  <c:v>60.4</c:v>
                </c:pt>
                <c:pt idx="6">
                  <c:v>60.6</c:v>
                </c:pt>
                <c:pt idx="7">
                  <c:v>60.6</c:v>
                </c:pt>
                <c:pt idx="8">
                  <c:v>60.8</c:v>
                </c:pt>
                <c:pt idx="9">
                  <c:v>60.8</c:v>
                </c:pt>
                <c:pt idx="10">
                  <c:v>61.2</c:v>
                </c:pt>
                <c:pt idx="11">
                  <c:v>61.4</c:v>
                </c:pt>
              </c:numCache>
            </c:numRef>
          </c:val>
        </c:ser>
        <c:gapWidth val="6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55%: extension below</c:v>
                </c:pt>
              </c:strCache>
            </c:strRef>
          </c:tx>
          <c:spPr>
            <a:ln w="22225">
              <a:solidFill>
                <a:srgbClr val="B3261E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Capital</c:v>
                </c:pt>
                <c:pt idx="1">
                  <c:v>Harbour</c:v>
                </c:pt>
                <c:pt idx="2">
                  <c:v>Western Uplands</c:v>
                </c:pt>
                <c:pt idx="3">
                  <c:v>Islands</c:v>
                </c:pt>
                <c:pt idx="4">
                  <c:v>Border</c:v>
                </c:pt>
                <c:pt idx="5">
                  <c:v>Midlands</c:v>
                </c:pt>
                <c:pt idx="6">
                  <c:v>North Coast</c:v>
                </c:pt>
                <c:pt idx="7">
                  <c:v>Northern Forests</c:v>
                </c:pt>
                <c:pt idx="8">
                  <c:v>Eastern Lakes</c:v>
                </c:pt>
                <c:pt idx="9">
                  <c:v>Southern Plains</c:v>
                </c:pt>
                <c:pt idx="10">
                  <c:v>South Coast</c:v>
                </c:pt>
                <c:pt idx="11">
                  <c:v>River Valley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55.0</c:v>
                </c:pt>
                <c:pt idx="1">
                  <c:v>55.0</c:v>
                </c:pt>
                <c:pt idx="2">
                  <c:v>55.0</c:v>
                </c:pt>
                <c:pt idx="3">
                  <c:v>55.0</c:v>
                </c:pt>
                <c:pt idx="4">
                  <c:v>55.0</c:v>
                </c:pt>
                <c:pt idx="5">
                  <c:v>55.0</c:v>
                </c:pt>
                <c:pt idx="6">
                  <c:v>55.0</c:v>
                </c:pt>
                <c:pt idx="7">
                  <c:v>55.0</c:v>
                </c:pt>
                <c:pt idx="8">
                  <c:v>55.0</c:v>
                </c:pt>
                <c:pt idx="9">
                  <c:v>55.0</c:v>
                </c:pt>
                <c:pt idx="10">
                  <c:v>55.0</c:v>
                </c:pt>
                <c:pt idx="11">
                  <c:v>55.0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58%: extra email below</c:v>
                </c:pt>
              </c:strCache>
            </c:strRef>
          </c:tx>
          <c:spPr>
            <a:ln w="22225">
              <a:solidFill>
                <a:srgbClr val="D98E04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Capital</c:v>
                </c:pt>
                <c:pt idx="1">
                  <c:v>Harbour</c:v>
                </c:pt>
                <c:pt idx="2">
                  <c:v>Western Uplands</c:v>
                </c:pt>
                <c:pt idx="3">
                  <c:v>Islands</c:v>
                </c:pt>
                <c:pt idx="4">
                  <c:v>Border</c:v>
                </c:pt>
                <c:pt idx="5">
                  <c:v>Midlands</c:v>
                </c:pt>
                <c:pt idx="6">
                  <c:v>North Coast</c:v>
                </c:pt>
                <c:pt idx="7">
                  <c:v>Northern Forests</c:v>
                </c:pt>
                <c:pt idx="8">
                  <c:v>Eastern Lakes</c:v>
                </c:pt>
                <c:pt idx="9">
                  <c:v>Southern Plains</c:v>
                </c:pt>
                <c:pt idx="10">
                  <c:v>South Coast</c:v>
                </c:pt>
                <c:pt idx="11">
                  <c:v>River Valley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58.0</c:v>
                </c:pt>
                <c:pt idx="1">
                  <c:v>58.0</c:v>
                </c:pt>
                <c:pt idx="2">
                  <c:v>58.0</c:v>
                </c:pt>
                <c:pt idx="3">
                  <c:v>58.0</c:v>
                </c:pt>
                <c:pt idx="4">
                  <c:v>58.0</c:v>
                </c:pt>
                <c:pt idx="5">
                  <c:v>58.0</c:v>
                </c:pt>
                <c:pt idx="6">
                  <c:v>58.0</c:v>
                </c:pt>
                <c:pt idx="7">
                  <c:v>58.0</c:v>
                </c:pt>
                <c:pt idx="8">
                  <c:v>58.0</c:v>
                </c:pt>
                <c:pt idx="9">
                  <c:v>58.0</c:v>
                </c:pt>
                <c:pt idx="10">
                  <c:v>58.0</c:v>
                </c:pt>
                <c:pt idx="11">
                  <c:v>58.0</c:v>
                </c:pt>
              </c:numCache>
            </c:numRef>
          </c:val>
          <c:smooth val="0"/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5.0"/>
          <c:min val="4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.0"/>
      </c:valAx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68680"/>
          </a:xfrm>
        </p:spPr>
        <p:txBody>
          <a:bodyPr/>
          <a:lstStyle/>
          <a:p>
            <a:pPr algn="l"/>
            <a:r>
              <a:rPr sz="2600" b="1"/>
              <a:t>Capital and Harbour go into the reminder-call extension; Islands and Western Uplands get the extra email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188720"/>
          <a:ext cx="1143000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1996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Returns by the close over invited firms still trading on 1 September. Non-returners without a closure on the business register counted in scope at 84.7%, from rounds March 2017 to September 2022 that the register has caught up with.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</a:rPr>
              <a:t>Source: BCS fieldwork system, survey database and Brevland Business Register extract of 25 September 2026. Business Surveys Unit, 28 September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BCS September 2026: response at the main close</dc:title>
  <dc:subject/>
  <dc:creator>Turid Rønning</dc:creator>
  <cp:keywords/>
  <dc:description/>
  <cp:lastModifiedBy>Turid Rønning</cp:lastModifiedBy>
  <cp:revision>4</cp:revision>
  <dcterms:created xsi:type="dcterms:W3CDTF">2026-09-26T09:05:00Z</dcterms:created>
  <dcterms:modified xsi:type="dcterms:W3CDTF">2026-09-28T06:52:00Z</dcterms:modified>
  <cp:category/>
</cp:coreProperties>
</file>