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Mortgages, 2024 and 2025</c:v>
                </c:pt>
              </c:strCache>
            </c:strRef>
          </c:tx>
          <c:dPt>
            <c:idx val="0"/>
            <c:spPr>
              <a:solidFill>
                <a:srgbClr val="C9D2C4"/>
              </a:solidFill>
            </c:spPr>
          </c:dPt>
          <c:dPt>
            <c:idx val="1"/>
            <c:spPr>
              <a:solidFill>
                <a:srgbClr val="C9D2C4"/>
              </a:solidFill>
            </c:spPr>
          </c:dPt>
          <c:dPt>
            <c:idx val="2"/>
            <c:spPr>
              <a:solidFill>
                <a:srgbClr val="C9D2C4"/>
              </a:solidFill>
            </c:spPr>
          </c:dPt>
          <c:dPt>
            <c:idx val="3"/>
            <c:spPr>
              <a:solidFill>
                <a:srgbClr val="C9D2C4"/>
              </a:solidFill>
            </c:spPr>
          </c:dPt>
          <c:dPt>
            <c:idx val="4"/>
            <c:spPr>
              <a:solidFill>
                <a:srgbClr val="C9D2C4"/>
              </a:solidFill>
            </c:spPr>
          </c:dPt>
          <c:dPt>
            <c:idx val="5"/>
            <c:spPr>
              <a:solidFill>
                <a:srgbClr val="C9D2C4"/>
              </a:solidFill>
            </c:spPr>
          </c:dPt>
          <c:dPt>
            <c:idx val="6"/>
            <c:spPr>
              <a:solidFill>
                <a:srgbClr val="C9D2C4"/>
              </a:solidFill>
            </c:spPr>
          </c:dPt>
          <c:dPt>
            <c:idx val="7"/>
            <c:spPr>
              <a:solidFill>
                <a:srgbClr val="3B5B3A"/>
              </a:solidFill>
            </c:spPr>
          </c:dPt>
          <c:dPt>
            <c:idx val="8"/>
            <c:spPr>
              <a:solidFill>
                <a:srgbClr val="3B5B3A"/>
              </a:solidFill>
            </c:spPr>
          </c:dPt>
          <c:dPt>
            <c:idx val="9"/>
            <c:spPr>
              <a:solidFill>
                <a:srgbClr val="3B5B3A"/>
              </a:solidFill>
            </c:spPr>
          </c:dPt>
          <c:dPt>
            <c:idx val="10"/>
            <c:spPr>
              <a:solidFill>
                <a:srgbClr val="3B5B3A"/>
              </a:solidFill>
            </c:spPr>
          </c:dPt>
          <c:dPt>
            <c:idx val="11"/>
            <c:spPr>
              <a:solidFill>
                <a:srgbClr val="3B5B3A"/>
              </a:solidFill>
            </c:spPr>
          </c:dPt>
          <c:cat>
            <c:strRef>
              <c:f>Sheet1!$A$2:$A$13</c:f>
              <c:strCache>
                <c:ptCount val="12"/>
                <c:pt idx="0">
                  <c:v>Eisenbrandt State Bank</c:v>
                </c:pt>
                <c:pt idx="1">
                  <c:v>Kessinger FCU</c:v>
                </c:pt>
                <c:pt idx="2">
                  <c:v>Ninnescah FCU</c:v>
                </c:pt>
                <c:pt idx="3">
                  <c:v>Heidebrecht State Bank</c:v>
                </c:pt>
                <c:pt idx="4">
                  <c:v>Saltfork State Bank</c:v>
                </c:pt>
                <c:pt idx="5">
                  <c:v>Tessaline Home Lending</c:v>
                </c:pt>
                <c:pt idx="6">
                  <c:v>Shunga Valley Bank</c:v>
                </c:pt>
                <c:pt idx="7">
                  <c:v>Arkhaven Bank</c:v>
                </c:pt>
                <c:pt idx="8">
                  <c:v>Mennwell Credit Union</c:v>
                </c:pt>
                <c:pt idx="9">
                  <c:v>Halverd Mortgage</c:v>
                </c:pt>
                <c:pt idx="10">
                  <c:v>Weyrauch State Bank</c:v>
                </c:pt>
                <c:pt idx="11">
                  <c:v>Corvane Home Loans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80</c:v>
                </c:pt>
                <c:pt idx="1">
                  <c:v>80</c:v>
                </c:pt>
                <c:pt idx="2">
                  <c:v>130</c:v>
                </c:pt>
                <c:pt idx="3">
                  <c:v>140</c:v>
                </c:pt>
                <c:pt idx="4">
                  <c:v>140</c:v>
                </c:pt>
                <c:pt idx="5">
                  <c:v>140</c:v>
                </c:pt>
                <c:pt idx="6">
                  <c:v>150</c:v>
                </c:pt>
                <c:pt idx="7">
                  <c:v>180</c:v>
                </c:pt>
                <c:pt idx="8">
                  <c:v>200</c:v>
                </c:pt>
                <c:pt idx="9">
                  <c:v>230</c:v>
                </c:pt>
                <c:pt idx="10">
                  <c:v>260</c:v>
                </c:pt>
                <c:pt idx="11">
                  <c:v>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0.0"/>
          <c:min val="0.0"/>
        </c:scaling>
        <c:delete val="0"/>
        <c:axPos val="b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B442A"/>
                </a:solidFill>
              </a:defRPr>
            </a:pPr>
            <a:r>
              <a:t>Recruit Corvane Home Loans, Weyrauch State Bank, Halverd Mortgage, Mennwell Credit Union and Arkhaven Bank first</a:t>
            </a:r>
          </a:p>
          <a:p>
            <a:pPr>
              <a:defRPr sz="1400">
                <a:solidFill>
                  <a:srgbClr val="5F5F5A"/>
                </a:solidFill>
              </a:defRPr>
            </a:pPr>
            <a:r>
              <a:t>First-lien home-purchase mortgages on homes in the eight counties, closed in 2024 and 2025, nearest 10. Two of the five, Weyrauch State Bank and Mennwell Credit Union, do not report HMDA.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783080"/>
          <a:ext cx="11064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0" y="49834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B5B3A"/>
                </a:solidFill>
              </a:defRPr>
            </a:pPr>
            <a:r>
              <a:t>Dark bars: the five recruited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F5F5A"/>
                </a:solidFill>
              </a:defRPr>
            </a:pPr>
            <a:r>
              <a:t>Sources: HMDA loan-level file 2024 and 2025 (reporting lenders); Venridge purchase-money file, recordings January 2024 to August 2026, scaled by its capture of the reporters' mortgages (the others). Prairie Lantern Housing Fund research desk, October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5F5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Lenders to recruit first, 2027 rural program</dc:title>
  <dc:creator>Laura Cohen</dc:creator>
  <cp:lastModifiedBy>Laura Cohen</cp:lastModifiedBy>
  <dcterms:created xsi:type="dcterms:W3CDTF">2026-10-09T19:15:00Z</dcterms:created>
  <dcterms:modified xsi:type="dcterms:W3CDTF">2026-10-09T20:52:10Z</dcterms:modified>
</cp:coreProperties>
</file>