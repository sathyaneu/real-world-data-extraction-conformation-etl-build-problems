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1280160"/>
          </a:xfrm>
          <a:prstGeom prst="rect">
            <a:avLst/>
          </a:prstGeom>
          <a:noFill/>
        </p:spPr>
        <p:txBody>
          <a:bodyPr wrap="square">
            <a:spAutoFit/>
          </a:bodyPr>
          <a:lstStyle/>
          <a:p>
            <a:pPr>
              <a:defRPr sz="3200" b="1">
                <a:solidFill>
                  <a:srgbClr val="16201B"/>
                </a:solidFill>
                <a:latin typeface="Calibri"/>
              </a:defRPr>
            </a:pPr>
            <a:r>
              <a:t>Fund the winter guarantee account with $1,650,000 at go-live</a:t>
            </a:r>
          </a:p>
          <a:p>
            <a:pPr>
              <a:spcBef>
                <a:spcPts val="800"/>
              </a:spcBef>
              <a:defRPr sz="1800" b="0">
                <a:solidFill>
                  <a:srgbClr val="4F5A54"/>
                </a:solidFill>
                <a:latin typeface="Calibri"/>
              </a:defRPr>
            </a:pPr>
            <a:r>
              <a:t>4,700 drivers expected to complete 40 trips between 4 and 31 January 2027, at $350 each</a:t>
            </a:r>
          </a:p>
        </p:txBody>
      </p:sp>
      <p:graphicFrame>
        <p:nvGraphicFramePr>
          <p:cNvPr id="3" name="Table 2"/>
          <p:cNvGraphicFramePr>
            <a:graphicFrameLocks noGrp="1"/>
          </p:cNvGraphicFramePr>
          <p:nvPr/>
        </p:nvGraphicFramePr>
        <p:xfrm>
          <a:off x="548640" y="1920240"/>
          <a:ext cx="5120640" cy="2304288"/>
        </p:xfrm>
        <a:graphic>
          <a:graphicData uri="http://schemas.openxmlformats.org/drawingml/2006/table">
            <a:tbl>
              <a:tblPr firstRow="1" bandRow="1">
                <a:tableStyleId>{5C22544A-7EE6-4342-B048-85BDC9FD1C3A}</a:tableStyleId>
              </a:tblPr>
              <a:tblGrid>
                <a:gridCol w="3840480"/>
                <a:gridCol w="1280160"/>
              </a:tblGrid>
              <a:tr h="384048">
                <a:tc>
                  <a:txBody>
                    <a:bodyPr/>
                    <a:lstStyle/>
                    <a:p>
                      <a:pPr>
                        <a:defRPr sz="1400" b="1">
                          <a:solidFill>
                            <a:srgbClr val="FFFFFF"/>
                          </a:solidFill>
                          <a:latin typeface="Calibri"/>
                        </a:defRPr>
                      </a:pPr>
                      <a:r>
                        <a:t>Expected to qualify</a:t>
                      </a:r>
                    </a:p>
                  </a:txBody>
                  <a:tcPr>
                    <a:solidFill>
                      <a:srgbClr val="2F5D3A"/>
                    </a:solidFill>
                  </a:tcPr>
                </a:tc>
                <a:tc>
                  <a:txBody>
                    <a:bodyPr/>
                    <a:lstStyle/>
                    <a:p>
                      <a:pPr algn="r">
                        <a:defRPr sz="1400" b="1">
                          <a:solidFill>
                            <a:srgbClr val="FFFFFF"/>
                          </a:solidFill>
                          <a:latin typeface="Calibri"/>
                        </a:defRPr>
                      </a:pPr>
                      <a:r>
                        <a:t>Drivers</a:t>
                      </a:r>
                    </a:p>
                  </a:txBody>
                  <a:tcPr>
                    <a:solidFill>
                      <a:srgbClr val="2F5D3A"/>
                    </a:solidFill>
                  </a:tcPr>
                </a:tc>
              </a:tr>
              <a:tr h="384048">
                <a:tc>
                  <a:txBody>
                    <a:bodyPr/>
                    <a:lstStyle/>
                    <a:p>
                      <a:pPr>
                        <a:defRPr sz="1400" b="0">
                          <a:solidFill>
                            <a:srgbClr val="16201B"/>
                          </a:solidFill>
                          <a:latin typeface="Calibri"/>
                        </a:defRPr>
                      </a:pPr>
                      <a:r>
                        <a:t>December 2026 roster</a:t>
                      </a:r>
                    </a:p>
                  </a:txBody>
                  <a:tcPr>
                    <a:solidFill>
                      <a:srgbClr val="FFFFFF"/>
                    </a:solidFill>
                  </a:tcPr>
                </a:tc>
                <a:tc>
                  <a:txBody>
                    <a:bodyPr/>
                    <a:lstStyle/>
                    <a:p>
                      <a:pPr algn="r">
                        <a:defRPr sz="1400" b="0">
                          <a:solidFill>
                            <a:srgbClr val="16201B"/>
                          </a:solidFill>
                          <a:latin typeface="Calibri"/>
                        </a:defRPr>
                      </a:pPr>
                      <a:r>
                        <a:t>2,680</a:t>
                      </a:r>
                    </a:p>
                  </a:txBody>
                  <a:tcPr>
                    <a:solidFill>
                      <a:srgbClr val="FFFFFF"/>
                    </a:solidFill>
                  </a:tcPr>
                </a:tc>
              </a:tr>
              <a:tr h="384048">
                <a:tc>
                  <a:txBody>
                    <a:bodyPr/>
                    <a:lstStyle/>
                    <a:p>
                      <a:pPr>
                        <a:defRPr sz="1400" b="0">
                          <a:solidFill>
                            <a:srgbClr val="16201B"/>
                          </a:solidFill>
                          <a:latin typeface="Calibri"/>
                        </a:defRPr>
                      </a:pPr>
                      <a:r>
                        <a:t>Last winter's drivers back by 3 January</a:t>
                      </a:r>
                    </a:p>
                  </a:txBody>
                  <a:tcPr>
                    <a:solidFill>
                      <a:srgbClr val="FFFFFF"/>
                    </a:solidFill>
                  </a:tcPr>
                </a:tc>
                <a:tc>
                  <a:txBody>
                    <a:bodyPr/>
                    <a:lstStyle/>
                    <a:p>
                      <a:pPr algn="r">
                        <a:defRPr sz="1400" b="0">
                          <a:solidFill>
                            <a:srgbClr val="16201B"/>
                          </a:solidFill>
                          <a:latin typeface="Calibri"/>
                        </a:defRPr>
                      </a:pPr>
                      <a:r>
                        <a:t>1,010</a:t>
                      </a:r>
                    </a:p>
                  </a:txBody>
                  <a:tcPr>
                    <a:solidFill>
                      <a:srgbClr val="FFFFFF"/>
                    </a:solidFill>
                  </a:tcPr>
                </a:tc>
              </a:tr>
              <a:tr h="384048">
                <a:tc>
                  <a:txBody>
                    <a:bodyPr/>
                    <a:lstStyle/>
                    <a:p>
                      <a:pPr>
                        <a:defRPr sz="1400" b="0">
                          <a:solidFill>
                            <a:srgbClr val="16201B"/>
                          </a:solidFill>
                          <a:latin typeface="Calibri"/>
                        </a:defRPr>
                      </a:pPr>
                      <a:r>
                        <a:t>Last winter's drivers due back 4 to 31 January</a:t>
                      </a:r>
                    </a:p>
                  </a:txBody>
                  <a:tcPr>
                    <a:solidFill>
                      <a:srgbClr val="FFFFFF"/>
                    </a:solidFill>
                  </a:tcPr>
                </a:tc>
                <a:tc>
                  <a:txBody>
                    <a:bodyPr/>
                    <a:lstStyle/>
                    <a:p>
                      <a:pPr algn="r">
                        <a:defRPr sz="1400" b="0">
                          <a:solidFill>
                            <a:srgbClr val="16201B"/>
                          </a:solidFill>
                          <a:latin typeface="Calibri"/>
                        </a:defRPr>
                      </a:pPr>
                      <a:r>
                        <a:t>970</a:t>
                      </a:r>
                    </a:p>
                  </a:txBody>
                  <a:tcPr>
                    <a:solidFill>
                      <a:srgbClr val="FFFFFF"/>
                    </a:solidFill>
                  </a:tcPr>
                </a:tc>
              </a:tr>
              <a:tr h="384048">
                <a:tc>
                  <a:txBody>
                    <a:bodyPr/>
                    <a:lstStyle/>
                    <a:p>
                      <a:pPr>
                        <a:defRPr sz="1400" b="0">
                          <a:solidFill>
                            <a:srgbClr val="16201B"/>
                          </a:solidFill>
                          <a:latin typeface="Calibri"/>
                        </a:defRPr>
                      </a:pPr>
                      <a:r>
                        <a:t>Other returning and new drivers</a:t>
                      </a:r>
                    </a:p>
                  </a:txBody>
                  <a:tcPr>
                    <a:solidFill>
                      <a:srgbClr val="FFFFFF"/>
                    </a:solidFill>
                  </a:tcPr>
                </a:tc>
                <a:tc>
                  <a:txBody>
                    <a:bodyPr/>
                    <a:lstStyle/>
                    <a:p>
                      <a:pPr algn="r">
                        <a:defRPr sz="1400" b="0">
                          <a:solidFill>
                            <a:srgbClr val="16201B"/>
                          </a:solidFill>
                          <a:latin typeface="Calibri"/>
                        </a:defRPr>
                      </a:pPr>
                      <a:r>
                        <a:t>40</a:t>
                      </a:r>
                    </a:p>
                  </a:txBody>
                  <a:tcPr>
                    <a:solidFill>
                      <a:srgbClr val="FFFFFF"/>
                    </a:solidFill>
                  </a:tcPr>
                </a:tc>
              </a:tr>
              <a:tr h="384048">
                <a:tc>
                  <a:txBody>
                    <a:bodyPr/>
                    <a:lstStyle/>
                    <a:p>
                      <a:pPr>
                        <a:defRPr sz="1400" b="1">
                          <a:solidFill>
                            <a:srgbClr val="16201B"/>
                          </a:solidFill>
                          <a:latin typeface="Calibri"/>
                        </a:defRPr>
                      </a:pPr>
                      <a:r>
                        <a:t>All drivers</a:t>
                      </a:r>
                    </a:p>
                  </a:txBody>
                  <a:tcPr>
                    <a:solidFill>
                      <a:srgbClr val="EEF2EE"/>
                    </a:solidFill>
                  </a:tcPr>
                </a:tc>
                <a:tc>
                  <a:txBody>
                    <a:bodyPr/>
                    <a:lstStyle/>
                    <a:p>
                      <a:pPr algn="r">
                        <a:defRPr sz="1400" b="1">
                          <a:solidFill>
                            <a:srgbClr val="16201B"/>
                          </a:solidFill>
                          <a:latin typeface="Calibri"/>
                        </a:defRPr>
                      </a:pPr>
                      <a:r>
                        <a:t>4,700</a:t>
                      </a:r>
                    </a:p>
                  </a:txBody>
                  <a:tcPr>
                    <a:solidFill>
                      <a:srgbClr val="EEF2EE"/>
                    </a:solidFill>
                  </a:tcPr>
                </a:tc>
              </a:tr>
            </a:tbl>
          </a:graphicData>
        </a:graphic>
      </p:graphicFrame>
      <p:sp>
        <p:nvSpPr>
          <p:cNvPr id="4" name="TextBox 3"/>
          <p:cNvSpPr txBox="1"/>
          <p:nvPr/>
        </p:nvSpPr>
        <p:spPr>
          <a:xfrm>
            <a:off x="6172200" y="1828800"/>
            <a:ext cx="5486400" cy="4023360"/>
          </a:xfrm>
          <a:prstGeom prst="rect">
            <a:avLst/>
          </a:prstGeom>
          <a:noFill/>
        </p:spPr>
        <p:txBody>
          <a:bodyPr wrap="square">
            <a:spAutoFit/>
          </a:bodyPr>
          <a:lstStyle/>
          <a:p>
            <a:pPr>
              <a:defRPr sz="1700" b="1">
                <a:solidFill>
                  <a:srgbClr val="16201B"/>
                </a:solidFill>
                <a:latin typeface="Calibri"/>
              </a:defRPr>
            </a:pPr>
            <a:r>
              <a:t>Why it is above last January</a:t>
            </a:r>
          </a:p>
          <a:p>
            <a:pPr>
              <a:spcBef>
                <a:spcPts val="800"/>
              </a:spcBef>
              <a:defRPr sz="1400" b="0">
                <a:solidFill>
                  <a:srgbClr val="16201B"/>
                </a:solidFill>
                <a:latin typeface="Calibri"/>
              </a:defRPr>
            </a:pPr>
            <a:r>
              <a:t>Last winter's recruitment campaign put about 2,200 new drivers on the road in February and March 2026. Most stopped driving in March or April and took no trip from May to October.</a:t>
            </a:r>
          </a:p>
          <a:p>
            <a:pPr>
              <a:spcBef>
                <a:spcPts val="800"/>
              </a:spcBef>
              <a:defRPr sz="1400" b="0">
                <a:solidFill>
                  <a:srgbClr val="16201B"/>
                </a:solidFill>
                <a:latin typeface="Calibri"/>
              </a:defRPr>
            </a:pPr>
            <a:r>
              <a:t>They are coming back with the winter: about 1,100 of last winter's drivers were back on the road by 3 January. In each of the last three winters January brought back about 1.1 drivers for every one back in November and December, so about 1,200 more are due inside the window.</a:t>
            </a:r>
          </a:p>
          <a:p>
            <a:pPr>
              <a:spcBef>
                <a:spcPts val="800"/>
              </a:spcBef>
              <a:defRPr sz="1400" b="0">
                <a:solidFill>
                  <a:srgbClr val="16201B"/>
                </a:solidFill>
                <a:latin typeface="Calibri"/>
              </a:defRPr>
            </a:pPr>
            <a:r>
              <a:t>Priced at last January's shares, last winter's drivers account for about 2,000 of the 4,700.</a:t>
            </a:r>
          </a:p>
        </p:txBody>
      </p:sp>
      <p:sp>
        <p:nvSpPr>
          <p:cNvPr id="5" name="TextBox 4"/>
          <p:cNvSpPr txBox="1"/>
          <p:nvPr/>
        </p:nvSpPr>
        <p:spPr>
          <a:xfrm>
            <a:off x="548640" y="5897880"/>
            <a:ext cx="11064240" cy="457200"/>
          </a:xfrm>
          <a:prstGeom prst="rect">
            <a:avLst/>
          </a:prstGeom>
          <a:noFill/>
        </p:spPr>
        <p:txBody>
          <a:bodyPr wrap="square">
            <a:spAutoFit/>
          </a:bodyPr>
          <a:lstStyle/>
          <a:p>
            <a:pPr>
              <a:defRPr sz="1050" b="0">
                <a:solidFill>
                  <a:srgbClr val="4F5A54"/>
                </a:solidFill>
                <a:latin typeface="Calibri"/>
              </a:defRPr>
            </a:pPr>
            <a:r>
              <a:t>Expected total at $350 a qualifying driver, to the nearest $50,000 (finance, 30 December 2026). Returns and recoveries come back to the account and are left out. Data to the extract run of 3 January 2027. Workings: guarantee_fund_jan2027.xlsx.</a:t>
            </a:r>
          </a:p>
        </p:txBody>
      </p:sp>
      <p:sp>
        <p:nvSpPr>
          <p:cNvPr id="6" name="TextBox 5"/>
          <p:cNvSpPr txBox="1"/>
          <p:nvPr/>
        </p:nvSpPr>
        <p:spPr>
          <a:xfrm>
            <a:off x="548640" y="6419088"/>
            <a:ext cx="9144000" cy="274320"/>
          </a:xfrm>
          <a:prstGeom prst="rect">
            <a:avLst/>
          </a:prstGeom>
          <a:noFill/>
        </p:spPr>
        <p:txBody>
          <a:bodyPr wrap="square">
            <a:spAutoFit/>
          </a:bodyPr>
          <a:lstStyle/>
          <a:p>
            <a:pPr>
              <a:defRPr sz="950" b="0">
                <a:solidFill>
                  <a:srgbClr val="4F5A54"/>
                </a:solidFill>
                <a:latin typeface="Calibri"/>
              </a:defRPr>
            </a:pPr>
            <a:r>
              <a:t>Larch Rides Driver Supply  |  Winter guarantee 2027 funding  |  3 January 2027</a:t>
            </a:r>
          </a:p>
        </p:txBody>
      </p:sp>
      <p:sp>
        <p:nvSpPr>
          <p:cNvPr id="7" name="TextBox 6"/>
          <p:cNvSpPr txBox="1"/>
          <p:nvPr/>
        </p:nvSpPr>
        <p:spPr>
          <a:xfrm>
            <a:off x="10881360" y="6419088"/>
            <a:ext cx="731520" cy="274320"/>
          </a:xfrm>
          <a:prstGeom prst="rect">
            <a:avLst/>
          </a:prstGeom>
          <a:noFill/>
        </p:spPr>
        <p:txBody>
          <a:bodyPr wrap="square">
            <a:spAutoFit/>
          </a:bodyPr>
          <a:lstStyle/>
          <a:p>
            <a:pPr algn="r">
              <a:defRPr sz="950" b="0">
                <a:solidFill>
                  <a:srgbClr val="4F5A54"/>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1097280"/>
          </a:xfrm>
          <a:prstGeom prst="rect">
            <a:avLst/>
          </a:prstGeom>
          <a:noFill/>
        </p:spPr>
        <p:txBody>
          <a:bodyPr wrap="square">
            <a:spAutoFit/>
          </a:bodyPr>
          <a:lstStyle/>
          <a:p>
            <a:pPr>
              <a:defRPr sz="2600" b="1">
                <a:solidFill>
                  <a:srgbClr val="16201B"/>
                </a:solidFill>
                <a:latin typeface="Calibri"/>
              </a:defRPr>
            </a:pPr>
            <a:r>
              <a:t>The 2026 guarantee cost $1,038,450 after returns and recoveries</a:t>
            </a:r>
          </a:p>
          <a:p>
            <a:pPr>
              <a:spcBef>
                <a:spcPts val="800"/>
              </a:spcBef>
              <a:defRPr sz="1400" b="0">
                <a:solidFill>
                  <a:srgbClr val="4F5A54"/>
                </a:solidFill>
                <a:latin typeface="Calibri"/>
              </a:defRPr>
            </a:pPr>
            <a:r>
              <a:t>Each guarantee from its main run to its net cost, as Payments Operations books it: returns never paid out again and recoveries booked to the guarantee of the payout they reverse.</a:t>
            </a:r>
          </a:p>
        </p:txBody>
      </p:sp>
      <p:pic>
        <p:nvPicPr>
          <p:cNvPr id="3" name="Picture 2" descr="image.png"/>
          <p:cNvPicPr>
            <a:picLocks noChangeAspect="1"/>
          </p:cNvPicPr>
          <p:nvPr/>
        </p:nvPicPr>
        <p:blipFill>
          <a:blip r:embed="rId2"/>
          <a:stretch>
            <a:fillRect/>
          </a:stretch>
        </p:blipFill>
        <p:spPr>
          <a:xfrm>
            <a:off x="502920" y="1417320"/>
            <a:ext cx="11155680" cy="4408293"/>
          </a:xfrm>
          <a:prstGeom prst="rect">
            <a:avLst/>
          </a:prstGeom>
        </p:spPr>
      </p:pic>
      <p:sp>
        <p:nvSpPr>
          <p:cNvPr id="4" name="TextBox 3"/>
          <p:cNvSpPr txBox="1"/>
          <p:nvPr/>
        </p:nvSpPr>
        <p:spPr>
          <a:xfrm>
            <a:off x="548640" y="5943600"/>
            <a:ext cx="11064240" cy="411480"/>
          </a:xfrm>
          <a:prstGeom prst="rect">
            <a:avLst/>
          </a:prstGeom>
          <a:noFill/>
        </p:spPr>
        <p:txBody>
          <a:bodyPr wrap="square">
            <a:spAutoFit/>
          </a:bodyPr>
          <a:lstStyle/>
          <a:p>
            <a:pPr>
              <a:defRPr sz="1050" b="0">
                <a:solidFill>
                  <a:srgbClr val="4F5A54"/>
                </a:solidFill>
                <a:latin typeface="Calibri"/>
              </a:defRPr>
            </a:pPr>
            <a:r>
              <a:t>Main runs of 14 February 2025 and 13 February 2026, the adjustment runs to June 2026, the bank's ACH return report and the payout events log. Drivers paid: people who kept a payment.</a:t>
            </a:r>
          </a:p>
        </p:txBody>
      </p:sp>
      <p:sp>
        <p:nvSpPr>
          <p:cNvPr id="5" name="TextBox 4"/>
          <p:cNvSpPr txBox="1"/>
          <p:nvPr/>
        </p:nvSpPr>
        <p:spPr>
          <a:xfrm>
            <a:off x="548640" y="6419088"/>
            <a:ext cx="9144000" cy="274320"/>
          </a:xfrm>
          <a:prstGeom prst="rect">
            <a:avLst/>
          </a:prstGeom>
          <a:noFill/>
        </p:spPr>
        <p:txBody>
          <a:bodyPr wrap="square">
            <a:spAutoFit/>
          </a:bodyPr>
          <a:lstStyle/>
          <a:p>
            <a:pPr>
              <a:defRPr sz="950" b="0">
                <a:solidFill>
                  <a:srgbClr val="4F5A54"/>
                </a:solidFill>
                <a:latin typeface="Calibri"/>
              </a:defRPr>
            </a:pPr>
            <a:r>
              <a:t>Larch Rides Driver Supply  |  Winter guarantee 2027 funding  |  3 January 2027</a:t>
            </a:r>
          </a:p>
        </p:txBody>
      </p:sp>
      <p:sp>
        <p:nvSpPr>
          <p:cNvPr id="6" name="TextBox 5"/>
          <p:cNvSpPr txBox="1"/>
          <p:nvPr/>
        </p:nvSpPr>
        <p:spPr>
          <a:xfrm>
            <a:off x="10881360" y="6419088"/>
            <a:ext cx="731520" cy="274320"/>
          </a:xfrm>
          <a:prstGeom prst="rect">
            <a:avLst/>
          </a:prstGeom>
          <a:noFill/>
        </p:spPr>
        <p:txBody>
          <a:bodyPr wrap="square">
            <a:spAutoFit/>
          </a:bodyPr>
          <a:lstStyle/>
          <a:p>
            <a:pPr algn="r">
              <a:defRPr sz="950" b="0">
                <a:solidFill>
                  <a:srgbClr val="4F5A54"/>
                </a:solidFill>
                <a:latin typeface="Calibri"/>
              </a:defRPr>
            </a:pPr>
            <a: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Winter guarantee 2027 funding</dc:title>
  <dc:creator>Gary Mathews</dc:creator>
  <cp:lastModifiedBy>Gary Mathews</cp:lastModifiedBy>
  <dcterms:created xsi:type="dcterms:W3CDTF">2027-01-03T23:58:00Z</dcterms:created>
  <dcterms:modified xsi:type="dcterms:W3CDTF">2027-01-04T04:47:00Z</dcterms:modified>
</cp:coreProperties>
</file>